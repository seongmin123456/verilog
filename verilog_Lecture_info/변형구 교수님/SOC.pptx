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  <p:sldId id="277" r:id="rId23"/>
    <p:sldId id="279" r:id="rId24"/>
    <p:sldId id="278" r:id="rId25"/>
    <p:sldId id="280" r:id="rId26"/>
    <p:sldId id="281" r:id="rId27"/>
    <p:sldId id="282" r:id="rId28"/>
    <p:sldId id="283" r:id="rId29"/>
    <p:sldId id="285" r:id="rId30"/>
    <p:sldId id="284" r:id="rId31"/>
    <p:sldId id="287" r:id="rId32"/>
    <p:sldId id="286" r:id="rId33"/>
    <p:sldId id="288" r:id="rId34"/>
    <p:sldId id="290" r:id="rId35"/>
    <p:sldId id="291" r:id="rId36"/>
    <p:sldId id="292" r:id="rId37"/>
    <p:sldId id="289" r:id="rId38"/>
    <p:sldId id="294" r:id="rId39"/>
    <p:sldId id="293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4" r:id="rId49"/>
    <p:sldId id="306" r:id="rId50"/>
    <p:sldId id="305" r:id="rId51"/>
    <p:sldId id="307" r:id="rId52"/>
    <p:sldId id="308" r:id="rId53"/>
    <p:sldId id="303" r:id="rId5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3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2FD3-CC19-4945-8DB9-61A465948CFC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C36E-159C-43D6-9FD2-DA303E1CE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95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2FD3-CC19-4945-8DB9-61A465948CFC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C36E-159C-43D6-9FD2-DA303E1CE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41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2FD3-CC19-4945-8DB9-61A465948CFC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C36E-159C-43D6-9FD2-DA303E1CE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17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2FD3-CC19-4945-8DB9-61A465948CFC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C36E-159C-43D6-9FD2-DA303E1CE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608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2FD3-CC19-4945-8DB9-61A465948CFC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C36E-159C-43D6-9FD2-DA303E1CE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597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2FD3-CC19-4945-8DB9-61A465948CFC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C36E-159C-43D6-9FD2-DA303E1CE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873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2FD3-CC19-4945-8DB9-61A465948CFC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C36E-159C-43D6-9FD2-DA303E1CE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104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2FD3-CC19-4945-8DB9-61A465948CFC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C36E-159C-43D6-9FD2-DA303E1CE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85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2FD3-CC19-4945-8DB9-61A465948CFC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C36E-159C-43D6-9FD2-DA303E1CE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3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2FD3-CC19-4945-8DB9-61A465948CFC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C36E-159C-43D6-9FD2-DA303E1CE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17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2FD3-CC19-4945-8DB9-61A465948CFC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C36E-159C-43D6-9FD2-DA303E1CE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70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82FD3-CC19-4945-8DB9-61A465948CFC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BC36E-159C-43D6-9FD2-DA303E1CE1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286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smtClean="0"/>
              <a:t>DDR : Capacitor</a:t>
            </a:r>
            <a:r>
              <a:rPr lang="ko-KR" altLang="en-US" sz="1500" dirty="0" smtClean="0"/>
              <a:t>로 구성</a:t>
            </a:r>
            <a:endParaRPr lang="en-US" altLang="ko-KR" sz="1500" dirty="0" smtClean="0"/>
          </a:p>
          <a:p>
            <a:pPr algn="l"/>
            <a:r>
              <a:rPr lang="en-US" altLang="ko-KR" sz="1500" dirty="0" smtClean="0"/>
              <a:t>AMBA (1:1 </a:t>
            </a:r>
            <a:r>
              <a:rPr lang="ko-KR" altLang="en-US" sz="1500" dirty="0" smtClean="0"/>
              <a:t>구조</a:t>
            </a:r>
            <a:r>
              <a:rPr lang="en-US" altLang="ko-KR" sz="1500" dirty="0" smtClean="0"/>
              <a:t>, Master Slave)</a:t>
            </a:r>
          </a:p>
          <a:p>
            <a:pPr algn="l"/>
            <a:r>
              <a:rPr lang="en-US" altLang="ko-KR" sz="1500" dirty="0"/>
              <a:t>	</a:t>
            </a:r>
            <a:r>
              <a:rPr lang="en-US" altLang="ko-KR" sz="1500" dirty="0" smtClean="0"/>
              <a:t>APB Peripheral bus</a:t>
            </a:r>
          </a:p>
          <a:p>
            <a:pPr algn="l"/>
            <a:r>
              <a:rPr lang="en-US" altLang="ko-KR" sz="1500" dirty="0"/>
              <a:t>	</a:t>
            </a:r>
            <a:r>
              <a:rPr lang="en-US" altLang="ko-KR" sz="1500" dirty="0" smtClean="0"/>
              <a:t>AHB </a:t>
            </a:r>
            <a:r>
              <a:rPr lang="en-US" altLang="ko-KR" sz="1500" dirty="0" err="1" smtClean="0"/>
              <a:t>Highspeed</a:t>
            </a:r>
            <a:r>
              <a:rPr lang="en-US" altLang="ko-KR" sz="1500" dirty="0" smtClean="0"/>
              <a:t> bus</a:t>
            </a:r>
          </a:p>
          <a:p>
            <a:pPr algn="l"/>
            <a:r>
              <a:rPr lang="en-US" altLang="ko-KR" sz="1500" dirty="0"/>
              <a:t>	</a:t>
            </a:r>
            <a:r>
              <a:rPr lang="en-US" altLang="ko-KR" sz="1500" dirty="0" smtClean="0"/>
              <a:t>ATB Test Bus</a:t>
            </a:r>
          </a:p>
          <a:p>
            <a:pPr algn="l"/>
            <a:r>
              <a:rPr lang="en-US" altLang="ko-KR" sz="1500" dirty="0"/>
              <a:t>	</a:t>
            </a:r>
            <a:r>
              <a:rPr lang="en-US" altLang="ko-KR" sz="1500" dirty="0" smtClean="0"/>
              <a:t>AXI </a:t>
            </a:r>
          </a:p>
          <a:p>
            <a:pPr algn="l"/>
            <a:r>
              <a:rPr lang="en-US" altLang="ko-KR" sz="1500" dirty="0" smtClean="0"/>
              <a:t>SIMD : Single Instruction Multiple Data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102194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2286"/>
            <a:ext cx="4143953" cy="431542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953" y="312808"/>
            <a:ext cx="7478169" cy="6373114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2514600" y="3581400"/>
            <a:ext cx="1511300" cy="3175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05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58254"/>
            <a:ext cx="11155895" cy="623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6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r="47123"/>
          <a:stretch/>
        </p:blipFill>
        <p:spPr>
          <a:xfrm>
            <a:off x="0" y="927213"/>
            <a:ext cx="5524500" cy="586803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360676"/>
            <a:ext cx="8242300" cy="543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12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004"/>
            <a:ext cx="11494684" cy="631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055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314" y="-57909"/>
            <a:ext cx="6792686" cy="6853155"/>
          </a:xfrm>
          <a:prstGeom prst="rect">
            <a:avLst/>
          </a:prstGeom>
        </p:spPr>
      </p:pic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ko-KR" altLang="en-US" sz="1500" dirty="0" smtClean="0"/>
              <a:t>함수들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096305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978" y="0"/>
            <a:ext cx="8858022" cy="681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93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smtClean="0"/>
              <a:t>platform error = </a:t>
            </a:r>
            <a:r>
              <a:rPr lang="ko-KR" altLang="en-US" sz="1500" dirty="0" smtClean="0"/>
              <a:t>하드웨어 문제</a:t>
            </a:r>
            <a:endParaRPr lang="en-US" altLang="ko-KR" sz="1500" dirty="0" smtClean="0"/>
          </a:p>
          <a:p>
            <a:pPr algn="l"/>
            <a:r>
              <a:rPr lang="en-US" altLang="ko-KR" sz="1500" dirty="0" smtClean="0"/>
              <a:t>platform build </a:t>
            </a:r>
            <a:r>
              <a:rPr lang="ko-KR" altLang="en-US" sz="1500" dirty="0">
                <a:sym typeface="Wingdings" panose="05000000000000000000" pitchFamily="2" charset="2"/>
              </a:rPr>
              <a:t>후</a:t>
            </a:r>
            <a:r>
              <a:rPr lang="en-US" altLang="ko-KR" sz="1500" dirty="0" smtClean="0">
                <a:sym typeface="Wingdings" panose="05000000000000000000" pitchFamily="2" charset="2"/>
              </a:rPr>
              <a:t> application build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2489"/>
            <a:ext cx="12192000" cy="481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86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smtClean="0"/>
              <a:t>O : breakpoint </a:t>
            </a:r>
            <a:r>
              <a:rPr lang="ko-KR" altLang="en-US" sz="1500" dirty="0" smtClean="0"/>
              <a:t>까지 진행</a:t>
            </a:r>
            <a:endParaRPr lang="en-US" altLang="ko-KR" sz="1500" dirty="0" smtClean="0"/>
          </a:p>
          <a:p>
            <a:pPr algn="l"/>
            <a:r>
              <a:rPr lang="en-US" altLang="ko-KR" sz="1500" dirty="0" smtClean="0"/>
              <a:t>_ : </a:t>
            </a:r>
            <a:r>
              <a:rPr lang="ko-KR" altLang="en-US" sz="1500" dirty="0" smtClean="0"/>
              <a:t>다음 스텝까지 진행</a:t>
            </a:r>
            <a:endParaRPr lang="ko-KR" altLang="en-US" sz="15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097"/>
            <a:ext cx="9535856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192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smtClean="0"/>
              <a:t>Digital </a:t>
            </a:r>
            <a:r>
              <a:rPr lang="ko-KR" altLang="en-US" sz="1500" dirty="0" smtClean="0"/>
              <a:t>회로 설계 시</a:t>
            </a:r>
            <a:endParaRPr lang="en-US" altLang="ko-KR" sz="1500" dirty="0" smtClean="0"/>
          </a:p>
          <a:p>
            <a:pPr algn="l"/>
            <a:r>
              <a:rPr lang="en-US" altLang="ko-KR" sz="1500" dirty="0" smtClean="0"/>
              <a:t>Glitch : </a:t>
            </a:r>
            <a:r>
              <a:rPr lang="ko-KR" altLang="en-US" sz="1500" dirty="0" err="1" smtClean="0"/>
              <a:t>동기화설계</a:t>
            </a:r>
            <a:r>
              <a:rPr lang="en-US" altLang="ko-KR" sz="1500" dirty="0" smtClean="0"/>
              <a:t>(</a:t>
            </a:r>
            <a:r>
              <a:rPr lang="ko-KR" altLang="en-US" sz="1500" dirty="0" smtClean="0"/>
              <a:t>조합 회로 설계를 </a:t>
            </a:r>
            <a:r>
              <a:rPr lang="ko-KR" altLang="en-US" sz="1500" dirty="0" err="1" smtClean="0"/>
              <a:t>순차회로로</a:t>
            </a:r>
            <a:r>
              <a:rPr lang="ko-KR" altLang="en-US" sz="1500" dirty="0" smtClean="0"/>
              <a:t> 세서 </a:t>
            </a:r>
            <a:r>
              <a:rPr lang="en-US" altLang="ko-KR" sz="1500" dirty="0" smtClean="0"/>
              <a:t>clock</a:t>
            </a:r>
            <a:r>
              <a:rPr lang="ko-KR" altLang="en-US" sz="1500" dirty="0" smtClean="0"/>
              <a:t>으로 </a:t>
            </a:r>
            <a:r>
              <a:rPr lang="en-US" altLang="ko-KR" sz="1500" dirty="0" smtClean="0"/>
              <a:t>catch)</a:t>
            </a:r>
          </a:p>
          <a:p>
            <a:pPr algn="l"/>
            <a:r>
              <a:rPr lang="ko-KR" altLang="en-US" sz="1500" dirty="0" smtClean="0"/>
              <a:t>전달 지연 시간 </a:t>
            </a:r>
            <a:r>
              <a:rPr lang="en-US" altLang="ko-KR" sz="1500" dirty="0" smtClean="0"/>
              <a:t>: </a:t>
            </a:r>
            <a:r>
              <a:rPr lang="ko-KR" altLang="en-US" sz="1500" dirty="0" smtClean="0"/>
              <a:t>시뮬레이션과 같이 </a:t>
            </a:r>
            <a:r>
              <a:rPr lang="en-US" altLang="ko-KR" sz="1500" dirty="0" smtClean="0"/>
              <a:t>Clock</a:t>
            </a:r>
            <a:r>
              <a:rPr lang="ko-KR" altLang="en-US" sz="1500" dirty="0" smtClean="0"/>
              <a:t>에 정확히 동기화 되지 않고 약간의 </a:t>
            </a:r>
            <a:r>
              <a:rPr lang="en-US" altLang="ko-KR" sz="1500" dirty="0" smtClean="0"/>
              <a:t>delay </a:t>
            </a:r>
            <a:r>
              <a:rPr lang="ko-KR" altLang="en-US" sz="1500" dirty="0" smtClean="0"/>
              <a:t>발생 위와 같은 방법으로 해결 가능</a:t>
            </a:r>
            <a:endParaRPr lang="en-US" altLang="ko-KR" sz="1500" dirty="0" smtClean="0"/>
          </a:p>
          <a:p>
            <a:pPr algn="l"/>
            <a:r>
              <a:rPr lang="en-US" altLang="ko-KR" sz="1500" dirty="0" smtClean="0"/>
              <a:t>Fan out : </a:t>
            </a:r>
            <a:r>
              <a:rPr lang="en-US" altLang="ko-KR" sz="1500" dirty="0" err="1" smtClean="0"/>
              <a:t>outpu</a:t>
            </a:r>
            <a:r>
              <a:rPr lang="ko-KR" altLang="en-US" sz="1500" dirty="0" smtClean="0"/>
              <a:t>에 많은 연결이 되면 </a:t>
            </a:r>
            <a:r>
              <a:rPr lang="ko-KR" altLang="en-US" sz="1500" dirty="0" err="1" smtClean="0"/>
              <a:t>아래와같이</a:t>
            </a:r>
            <a:r>
              <a:rPr lang="ko-KR" altLang="en-US" sz="1500" dirty="0" smtClean="0"/>
              <a:t> 이상적이지 않은 모양으로 변할 수 있음</a:t>
            </a:r>
            <a:r>
              <a:rPr lang="en-US" altLang="ko-KR" sz="1500" dirty="0" smtClean="0"/>
              <a:t>(</a:t>
            </a:r>
            <a:r>
              <a:rPr lang="ko-KR" altLang="en-US" sz="1500" dirty="0" smtClean="0"/>
              <a:t>언제 </a:t>
            </a:r>
            <a:r>
              <a:rPr lang="en-US" altLang="ko-KR" sz="1500" dirty="0" smtClean="0"/>
              <a:t>High</a:t>
            </a:r>
            <a:r>
              <a:rPr lang="ko-KR" altLang="en-US" sz="1500" dirty="0" smtClean="0"/>
              <a:t>일지 예측불가</a:t>
            </a:r>
            <a:r>
              <a:rPr lang="en-US" altLang="ko-KR" sz="1500" dirty="0" smtClean="0"/>
              <a:t>)</a:t>
            </a:r>
          </a:p>
          <a:p>
            <a:pPr algn="l"/>
            <a:r>
              <a:rPr lang="en-US" altLang="ko-KR" sz="1500" dirty="0" smtClean="0"/>
              <a:t>buffer</a:t>
            </a:r>
            <a:r>
              <a:rPr lang="ko-KR" altLang="en-US" sz="1500" dirty="0" smtClean="0"/>
              <a:t>를 사용하여 해결</a:t>
            </a:r>
            <a:r>
              <a:rPr lang="en-US" altLang="ko-KR" sz="1500" dirty="0" smtClean="0"/>
              <a:t>. buffer</a:t>
            </a:r>
            <a:r>
              <a:rPr lang="ko-KR" altLang="en-US" sz="1500" dirty="0" smtClean="0"/>
              <a:t>를 </a:t>
            </a:r>
            <a:r>
              <a:rPr lang="ko-KR" altLang="en-US" sz="1500" dirty="0" err="1" smtClean="0"/>
              <a:t>사용할경우</a:t>
            </a:r>
            <a:r>
              <a:rPr lang="ko-KR" altLang="en-US" sz="1500" dirty="0" smtClean="0"/>
              <a:t> </a:t>
            </a:r>
            <a:r>
              <a:rPr lang="en-US" altLang="ko-KR" sz="1500" dirty="0" smtClean="0"/>
              <a:t>0.5ns</a:t>
            </a:r>
            <a:r>
              <a:rPr lang="ko-KR" altLang="en-US" sz="1500" dirty="0" smtClean="0"/>
              <a:t>의 지연시간이 생기지만 예측가능 </a:t>
            </a:r>
            <a:r>
              <a:rPr lang="en-US" altLang="ko-KR" sz="1500" dirty="0" smtClean="0"/>
              <a:t>(</a:t>
            </a:r>
            <a:r>
              <a:rPr lang="ko-KR" altLang="en-US" sz="1500" dirty="0" smtClean="0"/>
              <a:t>위는 위측 불가능</a:t>
            </a:r>
            <a:r>
              <a:rPr lang="en-US" altLang="ko-KR" sz="1500" dirty="0" smtClean="0"/>
              <a:t>)</a:t>
            </a:r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r>
              <a:rPr lang="en-US" altLang="ko-KR" sz="1500" dirty="0" smtClean="0"/>
              <a:t>ASIC</a:t>
            </a:r>
          </a:p>
          <a:p>
            <a:pPr algn="l"/>
            <a:r>
              <a:rPr lang="en-US" altLang="ko-KR" sz="1500" dirty="0" smtClean="0"/>
              <a:t>Critical Path : </a:t>
            </a:r>
            <a:r>
              <a:rPr lang="ko-KR" altLang="en-US" sz="1500" dirty="0" smtClean="0"/>
              <a:t>여러 </a:t>
            </a:r>
            <a:r>
              <a:rPr lang="en-US" altLang="ko-KR" sz="1500" dirty="0" smtClean="0"/>
              <a:t>input</a:t>
            </a:r>
            <a:r>
              <a:rPr lang="ko-KR" altLang="en-US" sz="1500" dirty="0" smtClean="0"/>
              <a:t>과 </a:t>
            </a:r>
            <a:r>
              <a:rPr lang="en-US" altLang="ko-KR" sz="1500" dirty="0" smtClean="0"/>
              <a:t>output</a:t>
            </a:r>
            <a:r>
              <a:rPr lang="ko-KR" altLang="en-US" sz="1500" dirty="0" smtClean="0"/>
              <a:t>이 있을 때 가장 긴 시간이 걸리는 경로</a:t>
            </a:r>
            <a:endParaRPr lang="en-US" altLang="ko-KR" sz="1500" dirty="0"/>
          </a:p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2" y="1603537"/>
            <a:ext cx="3486637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16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5992"/>
            <a:ext cx="7357241" cy="626061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763" y="0"/>
            <a:ext cx="6644087" cy="437230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882" y="4561497"/>
            <a:ext cx="2372056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155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en-US" altLang="ko-KR" sz="1500" dirty="0" smtClean="0"/>
          </a:p>
          <a:p>
            <a:pPr algn="l"/>
            <a:r>
              <a:rPr lang="ko-KR" altLang="en-US" sz="1500" dirty="0" err="1" smtClean="0"/>
              <a:t>덧셈기</a:t>
            </a:r>
            <a:r>
              <a:rPr lang="ko-KR" altLang="en-US" sz="1500" dirty="0" smtClean="0"/>
              <a:t> 합성 시</a:t>
            </a:r>
            <a:endParaRPr lang="en-US" altLang="ko-KR" sz="1500" dirty="0"/>
          </a:p>
          <a:p>
            <a:pPr algn="l"/>
            <a:r>
              <a:rPr lang="en-US" altLang="ko-KR" sz="1500" dirty="0" smtClean="0"/>
              <a:t>Net Delay 1.599</a:t>
            </a:r>
          </a:p>
          <a:p>
            <a:pPr algn="l"/>
            <a:r>
              <a:rPr lang="en-US" altLang="ko-KR" sz="1500" dirty="0" smtClean="0"/>
              <a:t>Logic Delay : </a:t>
            </a:r>
            <a:r>
              <a:rPr lang="ko-KR" altLang="en-US" sz="1500" dirty="0" smtClean="0"/>
              <a:t>해당 </a:t>
            </a:r>
            <a:r>
              <a:rPr lang="en-US" altLang="ko-KR" sz="1500" dirty="0" smtClean="0"/>
              <a:t>path</a:t>
            </a:r>
            <a:r>
              <a:rPr lang="ko-KR" altLang="en-US" sz="1500" dirty="0" smtClean="0"/>
              <a:t>의 모든 </a:t>
            </a:r>
            <a:r>
              <a:rPr lang="en-US" altLang="ko-KR" sz="1500" dirty="0" smtClean="0"/>
              <a:t>Gate </a:t>
            </a:r>
            <a:r>
              <a:rPr lang="ko-KR" altLang="en-US" sz="1500" dirty="0" smtClean="0"/>
              <a:t>통과 시의 </a:t>
            </a:r>
            <a:r>
              <a:rPr lang="en-US" altLang="ko-KR" sz="1500" dirty="0" smtClean="0"/>
              <a:t>Delay</a:t>
            </a:r>
          </a:p>
          <a:p>
            <a:pPr algn="l"/>
            <a:r>
              <a:rPr lang="en-US" altLang="ko-KR" sz="1500" dirty="0" smtClean="0"/>
              <a:t>Synthesis </a:t>
            </a:r>
            <a:r>
              <a:rPr lang="ko-KR" altLang="en-US" sz="1500" dirty="0" smtClean="0"/>
              <a:t>의 </a:t>
            </a:r>
            <a:r>
              <a:rPr lang="en-US" altLang="ko-KR" sz="1500" dirty="0" smtClean="0"/>
              <a:t>Timing summary</a:t>
            </a:r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r>
              <a:rPr lang="en-US" altLang="ko-KR" sz="1500" dirty="0" smtClean="0"/>
              <a:t>Implementation</a:t>
            </a:r>
            <a:r>
              <a:rPr lang="ko-KR" altLang="en-US" sz="1500" dirty="0" smtClean="0"/>
              <a:t>의 </a:t>
            </a:r>
            <a:r>
              <a:rPr lang="en-US" altLang="ko-KR" sz="1500" dirty="0" smtClean="0"/>
              <a:t>Timing Summary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7671" y="-1272435"/>
            <a:ext cx="4868636" cy="514177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718" y="1785927"/>
            <a:ext cx="10583899" cy="263062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8" y="4904032"/>
            <a:ext cx="9299290" cy="19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46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ko-KR" altLang="en-US" sz="1500" dirty="0" err="1" smtClean="0"/>
              <a:t>뺄셈기</a:t>
            </a:r>
            <a:r>
              <a:rPr lang="en-US" altLang="ko-KR" sz="1500" dirty="0" smtClean="0"/>
              <a:t>, Schematic</a:t>
            </a:r>
            <a:r>
              <a:rPr lang="ko-KR" altLang="en-US" sz="1500" dirty="0" smtClean="0"/>
              <a:t>은 동일</a:t>
            </a:r>
            <a:endParaRPr lang="ko-KR" altLang="en-US" sz="15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2445" y="0"/>
            <a:ext cx="2333951" cy="1886213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659"/>
            <a:ext cx="7309028" cy="463551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335" y="4128132"/>
            <a:ext cx="6230219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18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en-US" altLang="ko-KR" sz="1500" dirty="0" smtClean="0"/>
          </a:p>
          <a:p>
            <a:pPr algn="l"/>
            <a:r>
              <a:rPr lang="ko-KR" altLang="en-US" sz="1500" dirty="0" err="1" smtClean="0"/>
              <a:t>뺄셈기</a:t>
            </a:r>
            <a:r>
              <a:rPr lang="ko-KR" altLang="en-US" sz="1500" dirty="0" smtClean="0"/>
              <a:t> </a:t>
            </a:r>
            <a:r>
              <a:rPr lang="ko-KR" altLang="en-US" sz="1500" dirty="0"/>
              <a:t>합성 시</a:t>
            </a:r>
            <a:endParaRPr lang="en-US" altLang="ko-KR" sz="1500" dirty="0"/>
          </a:p>
          <a:p>
            <a:pPr algn="l"/>
            <a:r>
              <a:rPr lang="en-US" altLang="ko-KR" sz="1500" dirty="0"/>
              <a:t>Net Delay 1.599</a:t>
            </a:r>
          </a:p>
          <a:p>
            <a:pPr algn="l"/>
            <a:r>
              <a:rPr lang="en-US" altLang="ko-KR" sz="1500" dirty="0"/>
              <a:t>Logic Delay : </a:t>
            </a:r>
            <a:r>
              <a:rPr lang="ko-KR" altLang="en-US" sz="1500" dirty="0"/>
              <a:t>해당 </a:t>
            </a:r>
            <a:r>
              <a:rPr lang="en-US" altLang="ko-KR" sz="1500" dirty="0"/>
              <a:t>path</a:t>
            </a:r>
            <a:r>
              <a:rPr lang="ko-KR" altLang="en-US" sz="1500" dirty="0"/>
              <a:t>의 모든 </a:t>
            </a:r>
            <a:r>
              <a:rPr lang="en-US" altLang="ko-KR" sz="1500" dirty="0"/>
              <a:t>Gate </a:t>
            </a:r>
            <a:r>
              <a:rPr lang="ko-KR" altLang="en-US" sz="1500" dirty="0"/>
              <a:t>통과 시의 </a:t>
            </a:r>
            <a:r>
              <a:rPr lang="en-US" altLang="ko-KR" sz="1500" dirty="0" smtClean="0"/>
              <a:t>Delay</a:t>
            </a:r>
          </a:p>
          <a:p>
            <a:pPr algn="l"/>
            <a:endParaRPr lang="en-US" altLang="ko-KR" sz="1500" dirty="0"/>
          </a:p>
          <a:p>
            <a:pPr algn="l"/>
            <a:r>
              <a:rPr lang="en-US" altLang="ko-KR" sz="1500" dirty="0" smtClean="0"/>
              <a:t>Synthesis</a:t>
            </a:r>
            <a:r>
              <a:rPr lang="ko-KR" altLang="en-US" sz="1500" dirty="0" smtClean="0"/>
              <a:t>의 </a:t>
            </a:r>
            <a:r>
              <a:rPr lang="en-US" altLang="ko-KR" sz="1500" dirty="0" smtClean="0"/>
              <a:t>timing summary</a:t>
            </a:r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r>
              <a:rPr lang="en-US" altLang="ko-KR" sz="1500" dirty="0" smtClean="0"/>
              <a:t>implementation</a:t>
            </a:r>
            <a:r>
              <a:rPr lang="ko-KR" altLang="en-US" sz="1500" dirty="0" smtClean="0"/>
              <a:t>의 </a:t>
            </a:r>
            <a:r>
              <a:rPr lang="en-US" altLang="ko-KR" sz="1500" dirty="0" smtClean="0"/>
              <a:t>timing summary</a:t>
            </a:r>
          </a:p>
          <a:p>
            <a:pPr algn="l"/>
            <a:endParaRPr lang="ko-KR" altLang="en-US" sz="1500" dirty="0"/>
          </a:p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32206"/>
            <a:ext cx="12192000" cy="202579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4796"/>
            <a:ext cx="11002911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218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smtClean="0"/>
              <a:t>LUT (Look Up Table) : 2^input_number = RAM</a:t>
            </a:r>
            <a:r>
              <a:rPr lang="ko-KR" altLang="en-US" sz="1500" dirty="0" smtClean="0"/>
              <a:t>의 개수</a:t>
            </a:r>
            <a:endParaRPr lang="en-US" altLang="ko-KR" sz="1500" dirty="0" smtClean="0"/>
          </a:p>
          <a:p>
            <a:pPr algn="l"/>
            <a:r>
              <a:rPr lang="en-US" altLang="ko-KR" sz="1500" dirty="0" smtClean="0"/>
              <a:t>LUT1 : NOT, Buffer</a:t>
            </a:r>
          </a:p>
          <a:p>
            <a:pPr algn="l"/>
            <a:r>
              <a:rPr lang="en-US" altLang="ko-KR" sz="1500" dirty="0" smtClean="0"/>
              <a:t>LUT2 : AND OR XOR</a:t>
            </a:r>
            <a:r>
              <a:rPr lang="ko-KR" altLang="en-US" sz="1500" dirty="0" smtClean="0"/>
              <a:t>등 구현 가능</a:t>
            </a:r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r>
              <a:rPr lang="en-US" altLang="ko-KR" sz="1500" dirty="0" smtClean="0"/>
              <a:t>LUT4 </a:t>
            </a:r>
            <a:r>
              <a:rPr lang="ko-KR" altLang="en-US" sz="1500" dirty="0" smtClean="0"/>
              <a:t>하나에 </a:t>
            </a:r>
            <a:r>
              <a:rPr lang="en-US" altLang="ko-KR" sz="1500" dirty="0" smtClean="0"/>
              <a:t>D-Flip Flop</a:t>
            </a:r>
            <a:r>
              <a:rPr lang="ko-KR" altLang="en-US" sz="1500" dirty="0" smtClean="0"/>
              <a:t>이 하나 붙는 구조</a:t>
            </a:r>
            <a:r>
              <a:rPr lang="en-US" altLang="ko-KR" sz="1500" dirty="0" smtClean="0"/>
              <a:t>(Xilinx </a:t>
            </a:r>
            <a:r>
              <a:rPr lang="ko-KR" altLang="en-US" sz="1500" dirty="0" smtClean="0"/>
              <a:t>특허</a:t>
            </a:r>
            <a:r>
              <a:rPr lang="en-US" altLang="ko-KR" sz="1500" dirty="0" smtClean="0"/>
              <a:t>)</a:t>
            </a:r>
          </a:p>
          <a:p>
            <a:pPr algn="l"/>
            <a:r>
              <a:rPr lang="en-US" altLang="ko-KR" sz="1500" dirty="0" smtClean="0"/>
              <a:t>LUT2~4</a:t>
            </a:r>
            <a:r>
              <a:rPr lang="ko-KR" altLang="en-US" sz="1500" dirty="0" smtClean="0"/>
              <a:t>는 </a:t>
            </a:r>
            <a:r>
              <a:rPr lang="en-US" altLang="ko-KR" sz="1500" dirty="0" smtClean="0"/>
              <a:t>LUT4</a:t>
            </a:r>
            <a:r>
              <a:rPr lang="ko-KR" altLang="en-US" sz="1500" dirty="0" smtClean="0"/>
              <a:t>의 </a:t>
            </a:r>
            <a:r>
              <a:rPr lang="en-US" altLang="ko-KR" sz="1500" dirty="0" smtClean="0"/>
              <a:t>Input</a:t>
            </a:r>
            <a:r>
              <a:rPr lang="ko-KR" altLang="en-US" sz="1500" dirty="0" smtClean="0"/>
              <a:t>을 묶어서 사용</a:t>
            </a:r>
            <a:endParaRPr lang="en-US" altLang="ko-KR" sz="1500" dirty="0" smtClean="0"/>
          </a:p>
          <a:p>
            <a:pPr algn="l"/>
            <a:r>
              <a:rPr lang="en-US" altLang="ko-KR" sz="1500" dirty="0" smtClean="0"/>
              <a:t>LUT5~6</a:t>
            </a:r>
            <a:r>
              <a:rPr lang="ko-KR" altLang="en-US" sz="1500" dirty="0" smtClean="0"/>
              <a:t>은 </a:t>
            </a:r>
            <a:r>
              <a:rPr lang="en-US" altLang="ko-KR" sz="1500" dirty="0" smtClean="0"/>
              <a:t>LUT4</a:t>
            </a:r>
            <a:r>
              <a:rPr lang="ko-KR" altLang="en-US" sz="1500" dirty="0" smtClean="0"/>
              <a:t>의 </a:t>
            </a:r>
            <a:r>
              <a:rPr lang="en-US" altLang="ko-KR" sz="1500" dirty="0" smtClean="0"/>
              <a:t>2</a:t>
            </a:r>
            <a:r>
              <a:rPr lang="ko-KR" altLang="en-US" sz="1500" dirty="0"/>
              <a:t>개</a:t>
            </a:r>
            <a:r>
              <a:rPr lang="ko-KR" altLang="en-US" sz="1500" dirty="0" smtClean="0"/>
              <a:t> </a:t>
            </a:r>
            <a:r>
              <a:rPr lang="en-US" altLang="ko-KR" sz="1500" dirty="0" smtClean="0"/>
              <a:t>4</a:t>
            </a:r>
            <a:r>
              <a:rPr lang="ko-KR" altLang="en-US" sz="1500" dirty="0"/>
              <a:t>개</a:t>
            </a:r>
            <a:r>
              <a:rPr lang="ko-KR" altLang="en-US" sz="1500" dirty="0" smtClean="0"/>
              <a:t>씩 사용</a:t>
            </a:r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r>
              <a:rPr lang="en-US" altLang="ko-KR" sz="1500" dirty="0" smtClean="0"/>
              <a:t>Clock</a:t>
            </a:r>
            <a:r>
              <a:rPr lang="ko-KR" altLang="en-US" sz="1500" dirty="0" smtClean="0"/>
              <a:t>에 따른 초기화 </a:t>
            </a:r>
            <a:r>
              <a:rPr lang="en-US" altLang="ko-KR" sz="1500" dirty="0" smtClean="0"/>
              <a:t>: Clear(</a:t>
            </a:r>
            <a:r>
              <a:rPr lang="ko-KR" altLang="en-US" sz="1500" dirty="0" smtClean="0"/>
              <a:t>동기 초기화</a:t>
            </a:r>
            <a:r>
              <a:rPr lang="en-US" altLang="ko-KR" sz="1500" dirty="0" smtClean="0"/>
              <a:t>)</a:t>
            </a:r>
          </a:p>
          <a:p>
            <a:pPr algn="l"/>
            <a:r>
              <a:rPr lang="en-US" altLang="ko-KR" sz="1500" dirty="0" smtClean="0"/>
              <a:t>Clock</a:t>
            </a:r>
            <a:r>
              <a:rPr lang="ko-KR" altLang="en-US" sz="1500" dirty="0" smtClean="0"/>
              <a:t>에 상관없이 초기화 </a:t>
            </a:r>
            <a:r>
              <a:rPr lang="en-US" altLang="ko-KR" sz="1500" dirty="0" smtClean="0"/>
              <a:t>: Power Reset(</a:t>
            </a:r>
            <a:r>
              <a:rPr lang="ko-KR" altLang="en-US" sz="1500" dirty="0" smtClean="0"/>
              <a:t>비동기 초기화</a:t>
            </a:r>
            <a:r>
              <a:rPr lang="en-US" altLang="ko-KR" sz="1500" dirty="0" smtClean="0"/>
              <a:t>)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288111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4" y="525023"/>
            <a:ext cx="1924319" cy="238158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350" y="-2"/>
            <a:ext cx="5456651" cy="6858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698" y="0"/>
            <a:ext cx="2514951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589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ko-KR" altLang="en-US" sz="1500" dirty="0" smtClean="0"/>
              <a:t>합성 </a:t>
            </a:r>
            <a:r>
              <a:rPr lang="en-US" altLang="ko-KR" sz="1500" dirty="0" smtClean="0"/>
              <a:t>Delay</a:t>
            </a:r>
            <a:r>
              <a:rPr lang="ko-KR" altLang="en-US" sz="1500" dirty="0" smtClean="0"/>
              <a:t>는 </a:t>
            </a:r>
            <a:r>
              <a:rPr lang="ko-KR" altLang="en-US" sz="1500" dirty="0"/>
              <a:t>추정치이기 때문에 </a:t>
            </a:r>
            <a:r>
              <a:rPr lang="ko-KR" altLang="en-US" sz="1500" dirty="0" smtClean="0"/>
              <a:t> 의미</a:t>
            </a:r>
            <a:r>
              <a:rPr lang="en-US" altLang="ko-KR" sz="1500" dirty="0" smtClean="0"/>
              <a:t>x</a:t>
            </a:r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r>
              <a:rPr lang="en-US" altLang="ko-KR" sz="1500" dirty="0" smtClean="0"/>
              <a:t>Implementation Delay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1838"/>
            <a:ext cx="11098174" cy="255305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6786"/>
            <a:ext cx="11784070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355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ko-KR" altLang="en-US" sz="1500" dirty="0" smtClean="0"/>
              <a:t>가로로 </a:t>
            </a:r>
            <a:r>
              <a:rPr lang="ko-KR" altLang="en-US" sz="1500" dirty="0" err="1" smtClean="0"/>
              <a:t>길어짐</a:t>
            </a:r>
            <a:r>
              <a:rPr lang="ko-KR" altLang="en-US" sz="1500" dirty="0" smtClean="0"/>
              <a:t> </a:t>
            </a:r>
            <a:r>
              <a:rPr lang="en-US" altLang="ko-KR" sz="1500" dirty="0" smtClean="0"/>
              <a:t>== </a:t>
            </a:r>
            <a:r>
              <a:rPr lang="ko-KR" altLang="en-US" sz="1500" dirty="0" err="1" smtClean="0"/>
              <a:t>로직</a:t>
            </a:r>
            <a:r>
              <a:rPr lang="ko-KR" altLang="en-US" sz="1500" dirty="0" smtClean="0"/>
              <a:t> 사이즈가 늘어남 </a:t>
            </a:r>
            <a:r>
              <a:rPr lang="en-US" altLang="ko-KR" sz="1500" dirty="0" smtClean="0"/>
              <a:t>== Delay</a:t>
            </a:r>
            <a:r>
              <a:rPr lang="ko-KR" altLang="en-US" sz="1500" dirty="0" smtClean="0"/>
              <a:t>증가</a:t>
            </a:r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r>
              <a:rPr lang="en-US" altLang="ko-KR" sz="1500" dirty="0"/>
              <a:t>	</a:t>
            </a:r>
            <a:r>
              <a:rPr lang="en-US" altLang="ko-KR" sz="1500" dirty="0" smtClean="0"/>
              <a:t>		Implementation Delay	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19"/>
          <a:stretch/>
        </p:blipFill>
        <p:spPr>
          <a:xfrm>
            <a:off x="0" y="1618930"/>
            <a:ext cx="12192000" cy="266929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52576"/>
            <a:ext cx="2695951" cy="250542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149"/>
            <a:ext cx="1933845" cy="166710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502" y="4600260"/>
            <a:ext cx="11250595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99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smtClean="0"/>
              <a:t>output 2</a:t>
            </a:r>
            <a:r>
              <a:rPr lang="ko-KR" altLang="en-US" sz="1500" dirty="0" smtClean="0"/>
              <a:t>배로 증가된 곱셈</a:t>
            </a:r>
            <a:endParaRPr lang="ko-KR" altLang="en-US" sz="15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660"/>
            <a:ext cx="1848108" cy="220058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836" y="367862"/>
            <a:ext cx="9865010" cy="649013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38259"/>
            <a:ext cx="2572109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048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2588"/>
            <a:ext cx="11536385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479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6786"/>
            <a:ext cx="1962424" cy="212437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763" y="-31378"/>
            <a:ext cx="3378171" cy="6858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934" y="0"/>
            <a:ext cx="2724530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0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621" y="596881"/>
            <a:ext cx="10726647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794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ko-KR" altLang="en-US" sz="1500" dirty="0" smtClean="0"/>
              <a:t>동기 리셋 </a:t>
            </a:r>
            <a:r>
              <a:rPr lang="en-US" altLang="ko-KR" sz="1500" dirty="0" err="1" smtClean="0"/>
              <a:t>d_ff</a:t>
            </a:r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r>
              <a:rPr lang="ko-KR" altLang="en-US" sz="1500" dirty="0" smtClean="0"/>
              <a:t>비동기 리셋 </a:t>
            </a:r>
            <a:r>
              <a:rPr lang="en-US" altLang="ko-KR" sz="1500" dirty="0" err="1" smtClean="0"/>
              <a:t>d_ff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880"/>
            <a:ext cx="5953956" cy="283884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4" y="3629311"/>
            <a:ext cx="6058746" cy="29626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971" y="0"/>
            <a:ext cx="3905795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662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smtClean="0"/>
              <a:t>Stop Watch</a:t>
            </a:r>
          </a:p>
          <a:p>
            <a:pPr algn="l"/>
            <a:r>
              <a:rPr lang="en-US" altLang="ko-KR" sz="1500" dirty="0" smtClean="0"/>
              <a:t>RST : Low Active</a:t>
            </a:r>
          </a:p>
          <a:p>
            <a:pPr algn="l"/>
            <a:r>
              <a:rPr lang="en-US" altLang="ko-KR" sz="1500" dirty="0" smtClean="0"/>
              <a:t>CLK : Rising Edge</a:t>
            </a:r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r>
              <a:rPr lang="en-US" altLang="ko-KR" sz="1500" dirty="0" smtClean="0"/>
              <a:t>2</a:t>
            </a:r>
            <a:r>
              <a:rPr lang="ko-KR" altLang="en-US" sz="1500" dirty="0" smtClean="0"/>
              <a:t>개의 보드로 </a:t>
            </a:r>
            <a:r>
              <a:rPr lang="en-US" altLang="ko-KR" sz="1500" dirty="0" smtClean="0"/>
              <a:t>Serial </a:t>
            </a:r>
            <a:r>
              <a:rPr lang="ko-KR" altLang="en-US" sz="1500" dirty="0" smtClean="0"/>
              <a:t>통신</a:t>
            </a:r>
            <a:endParaRPr lang="en-US" altLang="ko-KR" sz="1500" dirty="0" smtClean="0"/>
          </a:p>
          <a:p>
            <a:pPr algn="l"/>
            <a:r>
              <a:rPr lang="en-US" altLang="ko-KR" sz="1500" dirty="0" smtClean="0"/>
              <a:t>A</a:t>
            </a:r>
            <a:r>
              <a:rPr lang="ko-KR" altLang="en-US" sz="1500" dirty="0" smtClean="0"/>
              <a:t>보드 동작 시 </a:t>
            </a:r>
            <a:r>
              <a:rPr lang="en-US" altLang="ko-KR" sz="1500" dirty="0" smtClean="0"/>
              <a:t>B</a:t>
            </a:r>
            <a:r>
              <a:rPr lang="ko-KR" altLang="en-US" sz="1500" dirty="0" smtClean="0"/>
              <a:t>도 동작</a:t>
            </a:r>
            <a:endParaRPr lang="en-US" altLang="ko-KR" sz="1500" dirty="0" smtClean="0"/>
          </a:p>
          <a:p>
            <a:pPr algn="l"/>
            <a:r>
              <a:rPr lang="en-US" altLang="ko-KR" sz="1500" dirty="0" smtClean="0"/>
              <a:t>B</a:t>
            </a:r>
            <a:r>
              <a:rPr lang="ko-KR" altLang="en-US" sz="1500" dirty="0" smtClean="0"/>
              <a:t>보드 동작 시 </a:t>
            </a:r>
            <a:r>
              <a:rPr lang="en-US" altLang="ko-KR" sz="1500" dirty="0" smtClean="0"/>
              <a:t>A</a:t>
            </a:r>
            <a:r>
              <a:rPr lang="ko-KR" altLang="en-US" sz="1500" dirty="0" smtClean="0"/>
              <a:t>도 동작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46047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smtClean="0"/>
              <a:t>8bit input </a:t>
            </a:r>
            <a:r>
              <a:rPr lang="en-US" altLang="ko-KR" sz="1500" dirty="0" err="1" smtClean="0"/>
              <a:t>a,b</a:t>
            </a:r>
            <a:r>
              <a:rPr lang="en-US" altLang="ko-KR" sz="1500" dirty="0" smtClean="0"/>
              <a:t> 8bit output y</a:t>
            </a:r>
            <a:r>
              <a:rPr lang="ko-KR" altLang="en-US" sz="1500" dirty="0" smtClean="0"/>
              <a:t>에 </a:t>
            </a:r>
            <a:r>
              <a:rPr lang="en-US" altLang="ko-KR" sz="1500" dirty="0" smtClean="0"/>
              <a:t>output </a:t>
            </a:r>
            <a:r>
              <a:rPr lang="en-US" altLang="ko-KR" sz="1500" dirty="0" err="1" smtClean="0"/>
              <a:t>cro</a:t>
            </a:r>
            <a:r>
              <a:rPr lang="ko-KR" altLang="en-US" sz="1500" dirty="0" smtClean="0"/>
              <a:t>추가하여 </a:t>
            </a:r>
            <a:r>
              <a:rPr lang="en-US" altLang="ko-KR" sz="1500" dirty="0" err="1" smtClean="0"/>
              <a:t>a+b</a:t>
            </a:r>
            <a:r>
              <a:rPr lang="en-US" altLang="ko-KR" sz="1500" dirty="0" smtClean="0"/>
              <a:t> &gt; 255</a:t>
            </a:r>
            <a:r>
              <a:rPr lang="ko-KR" altLang="en-US" sz="1500" dirty="0" err="1" smtClean="0"/>
              <a:t>일때</a:t>
            </a:r>
            <a:r>
              <a:rPr lang="ko-KR" altLang="en-US" sz="1500" dirty="0" smtClean="0"/>
              <a:t> </a:t>
            </a:r>
            <a:r>
              <a:rPr lang="en-US" altLang="ko-KR" sz="1500" dirty="0" err="1" smtClean="0"/>
              <a:t>cro</a:t>
            </a:r>
            <a:r>
              <a:rPr lang="en-US" altLang="ko-KR" sz="1500" dirty="0" smtClean="0"/>
              <a:t> = 1, </a:t>
            </a:r>
            <a:r>
              <a:rPr lang="ko-KR" altLang="en-US" sz="1500" dirty="0" err="1" smtClean="0"/>
              <a:t>아닐때</a:t>
            </a:r>
            <a:r>
              <a:rPr lang="ko-KR" altLang="en-US" sz="1500" dirty="0" smtClean="0"/>
              <a:t> </a:t>
            </a:r>
            <a:r>
              <a:rPr lang="en-US" altLang="ko-KR" sz="1500" dirty="0" smtClean="0"/>
              <a:t>0 </a:t>
            </a:r>
            <a:r>
              <a:rPr lang="ko-KR" altLang="en-US" sz="1500" dirty="0" smtClean="0"/>
              <a:t>크기 최소화</a:t>
            </a:r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r>
              <a:rPr lang="en-US" altLang="ko-KR" sz="1500" dirty="0" smtClean="0"/>
              <a:t>									</a:t>
            </a:r>
            <a:r>
              <a:rPr lang="ko-KR" altLang="en-US" sz="1500" dirty="0" smtClean="0"/>
              <a:t>기존  </a:t>
            </a:r>
            <a:r>
              <a:rPr lang="en-US" altLang="ko-KR" sz="1500" dirty="0" smtClean="0"/>
              <a:t>8bit adder</a:t>
            </a:r>
            <a:r>
              <a:rPr lang="ko-KR" altLang="en-US" sz="1500" dirty="0" smtClean="0"/>
              <a:t>의 크기</a:t>
            </a:r>
            <a:endParaRPr lang="ko-KR" altLang="en-US" sz="15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7389"/>
            <a:ext cx="7357241" cy="626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211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ko-KR" altLang="en-US" sz="1500" dirty="0" smtClean="0"/>
              <a:t>아래와 같은 방법으로는 </a:t>
            </a:r>
            <a:r>
              <a:rPr lang="en-US" altLang="ko-KR" sz="1500" dirty="0" smtClean="0"/>
              <a:t>CARRY4 1</a:t>
            </a:r>
            <a:r>
              <a:rPr lang="ko-KR" altLang="en-US" sz="1500" dirty="0" smtClean="0"/>
              <a:t>개와 </a:t>
            </a:r>
            <a:r>
              <a:rPr lang="en-US" altLang="ko-KR" sz="1500" dirty="0" smtClean="0"/>
              <a:t>OBUF 1</a:t>
            </a:r>
            <a:r>
              <a:rPr lang="ko-KR" altLang="en-US" sz="1500" dirty="0" smtClean="0"/>
              <a:t>개 추가</a:t>
            </a:r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r>
              <a:rPr lang="en-US" altLang="ko-KR" sz="1500" dirty="0" smtClean="0"/>
              <a:t>Elaborated Design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981"/>
            <a:ext cx="2762636" cy="274358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426" y="423840"/>
            <a:ext cx="9522850" cy="643416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90" y="3067928"/>
            <a:ext cx="2553056" cy="164805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8" y="5371652"/>
            <a:ext cx="4830214" cy="132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9330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ko-KR" altLang="en-US" sz="1500" dirty="0" smtClean="0"/>
              <a:t>아래와 같이 코딩했을 때</a:t>
            </a:r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r>
              <a:rPr lang="en-US" altLang="ko-KR" sz="1500" dirty="0" smtClean="0"/>
              <a:t>LUT2 : 16</a:t>
            </a:r>
          </a:p>
          <a:p>
            <a:pPr algn="l"/>
            <a:r>
              <a:rPr lang="en-US" altLang="ko-KR" sz="1500" dirty="0" smtClean="0"/>
              <a:t>CARRY4 : 4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03"/>
            <a:ext cx="4210638" cy="54300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012" y="70945"/>
            <a:ext cx="8697113" cy="6858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26" y="3280946"/>
            <a:ext cx="4351281" cy="144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046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en-US" altLang="ko-KR" sz="1500" dirty="0" smtClean="0"/>
          </a:p>
          <a:p>
            <a:pPr algn="l"/>
            <a:r>
              <a:rPr lang="ko-KR" altLang="en-US" sz="1500" dirty="0" smtClean="0"/>
              <a:t>왼쪽 방법이 시뮬레이션에 유리</a:t>
            </a:r>
            <a:r>
              <a:rPr lang="en-US" altLang="ko-KR" sz="1500" dirty="0" smtClean="0"/>
              <a:t>, </a:t>
            </a:r>
            <a:r>
              <a:rPr lang="ko-KR" altLang="en-US" sz="1500" dirty="0" smtClean="0"/>
              <a:t>합성 회로 결과는 같음</a:t>
            </a:r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r>
              <a:rPr lang="en-US" altLang="ko-KR" sz="1500" dirty="0" smtClean="0"/>
              <a:t>			      </a:t>
            </a:r>
            <a:r>
              <a:rPr lang="en-US" altLang="ko-KR" sz="1500" dirty="0" smtClean="0">
                <a:sym typeface="Wingdings" panose="05000000000000000000" pitchFamily="2" charset="2"/>
              </a:rPr>
              <a:t>==</a:t>
            </a:r>
          </a:p>
          <a:p>
            <a:pPr algn="l"/>
            <a:endParaRPr lang="en-US" altLang="ko-KR" sz="1500" dirty="0">
              <a:sym typeface="Wingdings" panose="05000000000000000000" pitchFamily="2" charset="2"/>
            </a:endParaRPr>
          </a:p>
          <a:p>
            <a:pPr algn="l"/>
            <a:endParaRPr lang="en-US" altLang="ko-KR" sz="1500" dirty="0" smtClean="0">
              <a:sym typeface="Wingdings" panose="05000000000000000000" pitchFamily="2" charset="2"/>
            </a:endParaRPr>
          </a:p>
          <a:p>
            <a:pPr algn="l"/>
            <a:endParaRPr lang="en-US" altLang="ko-KR" sz="1500" dirty="0">
              <a:sym typeface="Wingdings" panose="05000000000000000000" pitchFamily="2" charset="2"/>
            </a:endParaRPr>
          </a:p>
          <a:p>
            <a:pPr algn="l"/>
            <a:endParaRPr lang="ko-KR" altLang="en-US" sz="15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570" y="654039"/>
            <a:ext cx="2762636" cy="2743583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261" y="654039"/>
            <a:ext cx="3321172" cy="252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31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err="1" smtClean="0"/>
              <a:t>bcd</a:t>
            </a:r>
            <a:r>
              <a:rPr lang="en-US" altLang="ko-KR" sz="1500" dirty="0" smtClean="0"/>
              <a:t> </a:t>
            </a:r>
            <a:r>
              <a:rPr lang="en-US" altLang="ko-KR" sz="1500" dirty="0" err="1" smtClean="0"/>
              <a:t>cnt</a:t>
            </a:r>
            <a:r>
              <a:rPr lang="ko-KR" altLang="en-US" sz="1500" dirty="0" smtClean="0"/>
              <a:t>와 </a:t>
            </a:r>
            <a:r>
              <a:rPr lang="en-US" altLang="ko-KR" sz="1500" dirty="0" smtClean="0"/>
              <a:t>hex </a:t>
            </a:r>
            <a:r>
              <a:rPr lang="en-US" altLang="ko-KR" sz="1500" dirty="0" err="1" smtClean="0"/>
              <a:t>cnt</a:t>
            </a:r>
            <a:r>
              <a:rPr lang="en-US" altLang="ko-KR" sz="1500" dirty="0" smtClean="0"/>
              <a:t> </a:t>
            </a:r>
            <a:r>
              <a:rPr lang="ko-KR" altLang="en-US" sz="1500" dirty="0" smtClean="0"/>
              <a:t>코드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7150" y="187376"/>
            <a:ext cx="4116283" cy="667062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5" y="314793"/>
            <a:ext cx="7640687" cy="654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2505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ko-KR" altLang="en-US" sz="1500" dirty="0" err="1" smtClean="0"/>
              <a:t>시뮬</a:t>
            </a:r>
            <a:r>
              <a:rPr lang="ko-KR" altLang="en-US" sz="1500" dirty="0" smtClean="0"/>
              <a:t> 결과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774" y="781860"/>
            <a:ext cx="10087226" cy="607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345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smtClean="0"/>
              <a:t>BCD_CNT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1636"/>
            <a:ext cx="12192000" cy="624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819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err="1" smtClean="0"/>
              <a:t>Hex_cnt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221" y="0"/>
            <a:ext cx="108177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9059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ko-KR" altLang="en-US" sz="1500" dirty="0" smtClean="0"/>
              <a:t>이와 같은 방법은 </a:t>
            </a:r>
            <a:r>
              <a:rPr lang="en-US" altLang="ko-KR" sz="1500" dirty="0" smtClean="0"/>
              <a:t>/</a:t>
            </a:r>
            <a:r>
              <a:rPr lang="ko-KR" altLang="en-US" sz="1500" dirty="0" smtClean="0"/>
              <a:t>와 </a:t>
            </a:r>
            <a:r>
              <a:rPr lang="en-US" altLang="ko-KR" sz="1500" dirty="0" smtClean="0"/>
              <a:t>%</a:t>
            </a:r>
            <a:r>
              <a:rPr lang="ko-KR" altLang="en-US" sz="1500" dirty="0" smtClean="0"/>
              <a:t>가 많이 사용되기 때문에 코딩은 편할 수 있으나 회로의 </a:t>
            </a:r>
            <a:r>
              <a:rPr lang="en-US" altLang="ko-KR" sz="1500" dirty="0" smtClean="0"/>
              <a:t>Size </a:t>
            </a:r>
            <a:r>
              <a:rPr lang="ko-KR" altLang="en-US" sz="1500" dirty="0" smtClean="0"/>
              <a:t>증가</a:t>
            </a:r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r>
              <a:rPr lang="ko-KR" altLang="en-US" sz="1500" dirty="0" smtClean="0"/>
              <a:t>따라서 </a:t>
            </a:r>
            <a:r>
              <a:rPr lang="en-US" altLang="ko-KR" sz="1500" dirty="0" smtClean="0"/>
              <a:t>10ms</a:t>
            </a:r>
            <a:r>
              <a:rPr lang="ko-KR" altLang="en-US" sz="1500" dirty="0" smtClean="0"/>
              <a:t>의 </a:t>
            </a:r>
            <a:r>
              <a:rPr lang="en-US" altLang="ko-KR" sz="1500" dirty="0" smtClean="0"/>
              <a:t>tick</a:t>
            </a:r>
            <a:r>
              <a:rPr lang="ko-KR" altLang="en-US" sz="1500" dirty="0"/>
              <a:t> </a:t>
            </a:r>
            <a:r>
              <a:rPr lang="ko-KR" altLang="en-US" sz="1500" dirty="0" smtClean="0"/>
              <a:t>마다 아래와 같은 과정으로 </a:t>
            </a:r>
            <a:r>
              <a:rPr lang="en-US" altLang="ko-KR" sz="1500" dirty="0" smtClean="0"/>
              <a:t>digit</a:t>
            </a:r>
            <a:r>
              <a:rPr lang="ko-KR" altLang="en-US" sz="1500" dirty="0" smtClean="0"/>
              <a:t>값 결정</a:t>
            </a:r>
            <a:endParaRPr lang="en-US" altLang="ko-KR" sz="1500" dirty="0" smtClean="0"/>
          </a:p>
          <a:p>
            <a:pPr algn="l"/>
            <a:r>
              <a:rPr lang="en-US" altLang="ko-KR" sz="1500" dirty="0" smtClean="0"/>
              <a:t>if(</a:t>
            </a:r>
            <a:r>
              <a:rPr lang="en-US" altLang="ko-KR" sz="1500" dirty="0" err="1" smtClean="0"/>
              <a:t>digit_cnt</a:t>
            </a:r>
            <a:r>
              <a:rPr lang="en-US" altLang="ko-KR" sz="1500" dirty="0" smtClean="0"/>
              <a:t> &gt; 89) 		digit_10 = 9;</a:t>
            </a:r>
          </a:p>
          <a:p>
            <a:pPr algn="l"/>
            <a:r>
              <a:rPr lang="en-US" altLang="ko-KR" sz="1500" dirty="0" smtClean="0"/>
              <a:t>else if(</a:t>
            </a:r>
            <a:r>
              <a:rPr lang="en-US" altLang="ko-KR" sz="1500" dirty="0" err="1" smtClean="0"/>
              <a:t>digit_cnt</a:t>
            </a:r>
            <a:r>
              <a:rPr lang="en-US" altLang="ko-KR" sz="1500" dirty="0" smtClean="0"/>
              <a:t> &gt; 79)	digit_10 = 8;</a:t>
            </a:r>
          </a:p>
          <a:p>
            <a:pPr algn="l"/>
            <a:r>
              <a:rPr lang="en-US" altLang="ko-KR" sz="1500" dirty="0"/>
              <a:t> </a:t>
            </a:r>
            <a:r>
              <a:rPr lang="en-US" altLang="ko-KR" sz="1500" dirty="0" smtClean="0"/>
              <a:t>              …</a:t>
            </a:r>
          </a:p>
          <a:p>
            <a:pPr algn="l"/>
            <a:r>
              <a:rPr lang="en-US" altLang="ko-KR" sz="1500" dirty="0" smtClean="0"/>
              <a:t>digit_1 = input – digit_10 * 10</a:t>
            </a:r>
          </a:p>
          <a:p>
            <a:pPr algn="l"/>
            <a:r>
              <a:rPr lang="en-US" altLang="ko-KR" sz="1500" dirty="0"/>
              <a:t>	</a:t>
            </a:r>
            <a:r>
              <a:rPr lang="en-US" altLang="ko-KR" sz="1500" dirty="0" smtClean="0"/>
              <a:t>		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2" y="390207"/>
            <a:ext cx="6077798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094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r>
              <a:rPr lang="en-US" altLang="ko-KR" sz="1500" dirty="0" smtClean="0"/>
              <a:t>hex2BCD</a:t>
            </a:r>
          </a:p>
          <a:p>
            <a:pPr algn="l"/>
            <a:r>
              <a:rPr lang="ko-KR" altLang="en-US" sz="1500" dirty="0" err="1" smtClean="0"/>
              <a:t>시뮬결과</a:t>
            </a:r>
            <a:r>
              <a:rPr lang="en-US" altLang="ko-KR" sz="1500" dirty="0" smtClean="0"/>
              <a:t> 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102"/>
          <a:stretch/>
        </p:blipFill>
        <p:spPr>
          <a:xfrm>
            <a:off x="936884" y="3924187"/>
            <a:ext cx="11255115" cy="287341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496" y="0"/>
            <a:ext cx="1860287" cy="399487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-2352"/>
            <a:ext cx="3987384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/>
              <a:t>`timescale 1ns / </a:t>
            </a:r>
            <a:r>
              <a:rPr lang="en-US" altLang="ko-KR" sz="1400" dirty="0" smtClean="0"/>
              <a:t>1ps</a:t>
            </a:r>
            <a:endParaRPr lang="en-US" altLang="ko-KR" sz="1400" dirty="0"/>
          </a:p>
          <a:p>
            <a:r>
              <a:rPr lang="en-US" altLang="ko-KR" sz="1400" dirty="0"/>
              <a:t>module hex2BCD(</a:t>
            </a:r>
          </a:p>
          <a:p>
            <a:r>
              <a:rPr lang="en-US" altLang="ko-KR" sz="1400" dirty="0"/>
              <a:t>    input </a:t>
            </a:r>
            <a:r>
              <a:rPr lang="en-US" altLang="ko-KR" sz="1400" dirty="0" smtClean="0"/>
              <a:t>CLK, PLS100, RST</a:t>
            </a:r>
            <a:r>
              <a:rPr lang="en-US" altLang="ko-KR" sz="1400" dirty="0"/>
              <a:t>,</a:t>
            </a:r>
          </a:p>
          <a:p>
            <a:r>
              <a:rPr lang="en-US" altLang="ko-KR" sz="1400" dirty="0"/>
              <a:t>    input [6:0] HEX,</a:t>
            </a:r>
          </a:p>
          <a:p>
            <a:r>
              <a:rPr lang="en-US" altLang="ko-KR" sz="1400" dirty="0"/>
              <a:t>    output </a:t>
            </a:r>
            <a:r>
              <a:rPr lang="en-US" altLang="ko-KR" sz="1400" dirty="0" err="1"/>
              <a:t>reg</a:t>
            </a:r>
            <a:r>
              <a:rPr lang="en-US" altLang="ko-KR" sz="1400" dirty="0"/>
              <a:t> [7:0] BCD</a:t>
            </a:r>
          </a:p>
          <a:p>
            <a:r>
              <a:rPr lang="en-US" altLang="ko-KR" sz="1400" dirty="0"/>
              <a:t>    );</a:t>
            </a:r>
          </a:p>
          <a:p>
            <a:r>
              <a:rPr lang="en-US" altLang="ko-KR" sz="1400" dirty="0"/>
              <a:t>    parameter CLK_FREQ = 125_000_000</a:t>
            </a:r>
            <a:r>
              <a:rPr lang="en-US" altLang="ko-KR" sz="1400" dirty="0" smtClean="0"/>
              <a:t>;</a:t>
            </a:r>
            <a:endParaRPr lang="en-US" altLang="ko-KR" sz="1400" dirty="0"/>
          </a:p>
          <a:p>
            <a:r>
              <a:rPr lang="en-US" altLang="ko-KR" sz="1400" dirty="0"/>
              <a:t>    </a:t>
            </a:r>
            <a:r>
              <a:rPr lang="en-US" altLang="ko-KR" sz="1400" dirty="0" err="1"/>
              <a:t>reg</a:t>
            </a:r>
            <a:r>
              <a:rPr lang="en-US" altLang="ko-KR" sz="1400" dirty="0"/>
              <a:t> [6:0] </a:t>
            </a:r>
            <a:r>
              <a:rPr lang="en-US" altLang="ko-KR" sz="1400" dirty="0" err="1"/>
              <a:t>hex_temp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    </a:t>
            </a:r>
            <a:r>
              <a:rPr lang="en-US" altLang="ko-KR" sz="1400" dirty="0" err="1"/>
              <a:t>reg</a:t>
            </a:r>
            <a:r>
              <a:rPr lang="en-US" altLang="ko-KR" sz="1400" dirty="0"/>
              <a:t> [3:0] digit_10, digit_1;</a:t>
            </a:r>
          </a:p>
          <a:p>
            <a:r>
              <a:rPr lang="en-US" altLang="ko-KR" sz="1400" dirty="0"/>
              <a:t>    </a:t>
            </a:r>
            <a:r>
              <a:rPr lang="en-US" altLang="ko-KR" sz="1400" dirty="0" err="1"/>
              <a:t>reg</a:t>
            </a:r>
            <a:r>
              <a:rPr lang="en-US" altLang="ko-KR" sz="1400" dirty="0"/>
              <a:t> [2:0] </a:t>
            </a:r>
            <a:r>
              <a:rPr lang="en-US" altLang="ko-KR" sz="1400" dirty="0" err="1"/>
              <a:t>cnt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    </a:t>
            </a:r>
            <a:r>
              <a:rPr lang="en-US" altLang="ko-KR" sz="1400" dirty="0" err="1"/>
              <a:t>reg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en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    //assign BCD = {digit_10, digit_1};</a:t>
            </a:r>
          </a:p>
          <a:p>
            <a:r>
              <a:rPr lang="en-US" altLang="ko-KR" sz="1400" dirty="0"/>
              <a:t>    </a:t>
            </a:r>
            <a:r>
              <a:rPr lang="en-US" altLang="ko-KR" sz="1400" dirty="0" err="1"/>
              <a:t>reg</a:t>
            </a:r>
            <a:r>
              <a:rPr lang="en-US" altLang="ko-KR" sz="1400" dirty="0"/>
              <a:t> </a:t>
            </a:r>
            <a:r>
              <a:rPr lang="en-US" altLang="ko-KR" sz="1400" dirty="0" err="1"/>
              <a:t>pls_pre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pls_cu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    assign </a:t>
            </a:r>
            <a:r>
              <a:rPr lang="en-US" altLang="ko-KR" sz="1400" dirty="0" err="1"/>
              <a:t>pls_rising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pls_cu</a:t>
            </a:r>
            <a:r>
              <a:rPr lang="en-US" altLang="ko-KR" sz="1400" dirty="0"/>
              <a:t> &amp; ~</a:t>
            </a:r>
            <a:r>
              <a:rPr lang="en-US" altLang="ko-KR" sz="1400" dirty="0" err="1"/>
              <a:t>pls_pre</a:t>
            </a:r>
            <a:r>
              <a:rPr lang="en-US" altLang="ko-KR" sz="1400" dirty="0"/>
              <a:t>; </a:t>
            </a:r>
          </a:p>
          <a:p>
            <a:r>
              <a:rPr lang="en-US" altLang="ko-KR" sz="1400" dirty="0"/>
              <a:t>    </a:t>
            </a:r>
          </a:p>
          <a:p>
            <a:r>
              <a:rPr lang="en-US" altLang="ko-KR" sz="1400" dirty="0"/>
              <a:t>    always @ (</a:t>
            </a:r>
            <a:r>
              <a:rPr lang="en-US" altLang="ko-KR" sz="1400" dirty="0" err="1"/>
              <a:t>posedge</a:t>
            </a:r>
            <a:r>
              <a:rPr lang="en-US" altLang="ko-KR" sz="1400" dirty="0"/>
              <a:t> CLK) begin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pls_cu</a:t>
            </a:r>
            <a:r>
              <a:rPr lang="en-US" altLang="ko-KR" sz="1400" dirty="0"/>
              <a:t> &lt;= PLS100;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pls_pre</a:t>
            </a:r>
            <a:r>
              <a:rPr lang="en-US" altLang="ko-KR" sz="1400" dirty="0"/>
              <a:t> &lt;= </a:t>
            </a:r>
            <a:r>
              <a:rPr lang="en-US" altLang="ko-KR" sz="1400" dirty="0" err="1"/>
              <a:t>pls_cu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    end</a:t>
            </a:r>
            <a:endParaRPr lang="ko-KR" altLang="en-US" sz="1400" dirty="0"/>
          </a:p>
        </p:txBody>
      </p:sp>
      <p:sp>
        <p:nvSpPr>
          <p:cNvPr id="6" name="직사각형 5"/>
          <p:cNvSpPr/>
          <p:nvPr/>
        </p:nvSpPr>
        <p:spPr>
          <a:xfrm>
            <a:off x="5822388" y="0"/>
            <a:ext cx="698128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 err="1" smtClean="0"/>
              <a:t>if</a:t>
            </a:r>
            <a:r>
              <a:rPr lang="ko-KR" altLang="en-US" sz="1200" dirty="0" smtClean="0"/>
              <a:t>(</a:t>
            </a:r>
            <a:r>
              <a:rPr lang="ko-KR" altLang="en-US" sz="1200" dirty="0" err="1" smtClean="0"/>
              <a:t>en</a:t>
            </a:r>
            <a:r>
              <a:rPr lang="ko-KR" altLang="en-US" sz="1200" dirty="0"/>
              <a:t>) </a:t>
            </a:r>
            <a:r>
              <a:rPr lang="ko-KR" altLang="en-US" sz="1200" dirty="0" err="1"/>
              <a:t>begin</a:t>
            </a:r>
            <a:endParaRPr lang="ko-KR" altLang="en-US" sz="1200" dirty="0"/>
          </a:p>
          <a:p>
            <a:r>
              <a:rPr lang="ko-KR" altLang="en-US" sz="1200" dirty="0"/>
              <a:t>                </a:t>
            </a:r>
            <a:r>
              <a:rPr lang="ko-KR" altLang="en-US" sz="1200" dirty="0" err="1"/>
              <a:t>cnt</a:t>
            </a:r>
            <a:r>
              <a:rPr lang="ko-KR" altLang="en-US" sz="1200" dirty="0"/>
              <a:t> &lt;= </a:t>
            </a:r>
            <a:r>
              <a:rPr lang="ko-KR" altLang="en-US" sz="1200" dirty="0" err="1"/>
              <a:t>cnt</a:t>
            </a:r>
            <a:r>
              <a:rPr lang="ko-KR" altLang="en-US" sz="1200" dirty="0"/>
              <a:t> + 1;</a:t>
            </a:r>
          </a:p>
          <a:p>
            <a:r>
              <a:rPr lang="ko-KR" altLang="en-US" sz="1200" dirty="0"/>
              <a:t>               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(</a:t>
            </a:r>
            <a:r>
              <a:rPr lang="ko-KR" altLang="en-US" sz="1200" dirty="0" err="1"/>
              <a:t>cnt</a:t>
            </a:r>
            <a:r>
              <a:rPr lang="ko-KR" altLang="en-US" sz="1200" dirty="0"/>
              <a:t> == 1)</a:t>
            </a:r>
          </a:p>
          <a:p>
            <a:r>
              <a:rPr lang="ko-KR" altLang="en-US" sz="1200" dirty="0"/>
              <a:t>                   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(</a:t>
            </a:r>
            <a:r>
              <a:rPr lang="ko-KR" altLang="en-US" sz="1200" dirty="0" err="1"/>
              <a:t>hex_temp</a:t>
            </a:r>
            <a:r>
              <a:rPr lang="ko-KR" altLang="en-US" sz="1200" dirty="0"/>
              <a:t> &gt; 89)          digit_10 &lt;= 9;</a:t>
            </a:r>
          </a:p>
          <a:p>
            <a:r>
              <a:rPr lang="ko-KR" altLang="en-US" sz="1200" dirty="0"/>
              <a:t>                    </a:t>
            </a:r>
            <a:r>
              <a:rPr lang="ko-KR" altLang="en-US" sz="1200" dirty="0" err="1"/>
              <a:t>else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(</a:t>
            </a:r>
            <a:r>
              <a:rPr lang="ko-KR" altLang="en-US" sz="1200" dirty="0" err="1"/>
              <a:t>hex_temp</a:t>
            </a:r>
            <a:r>
              <a:rPr lang="ko-KR" altLang="en-US" sz="1200" dirty="0"/>
              <a:t> &gt; 79)  digit_10 &lt;= 8;</a:t>
            </a:r>
          </a:p>
          <a:p>
            <a:r>
              <a:rPr lang="ko-KR" altLang="en-US" sz="1200" dirty="0"/>
              <a:t>                    </a:t>
            </a:r>
            <a:r>
              <a:rPr lang="ko-KR" altLang="en-US" sz="1200" dirty="0" err="1"/>
              <a:t>else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(</a:t>
            </a:r>
            <a:r>
              <a:rPr lang="ko-KR" altLang="en-US" sz="1200" dirty="0" err="1"/>
              <a:t>hex_temp</a:t>
            </a:r>
            <a:r>
              <a:rPr lang="ko-KR" altLang="en-US" sz="1200" dirty="0"/>
              <a:t> &gt; 69)  digit_10 &lt;= 7;</a:t>
            </a:r>
          </a:p>
          <a:p>
            <a:r>
              <a:rPr lang="ko-KR" altLang="en-US" sz="1200" dirty="0"/>
              <a:t>                    </a:t>
            </a:r>
            <a:r>
              <a:rPr lang="ko-KR" altLang="en-US" sz="1200" dirty="0" err="1"/>
              <a:t>else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(</a:t>
            </a:r>
            <a:r>
              <a:rPr lang="ko-KR" altLang="en-US" sz="1200" dirty="0" err="1"/>
              <a:t>hex_temp</a:t>
            </a:r>
            <a:r>
              <a:rPr lang="ko-KR" altLang="en-US" sz="1200" dirty="0"/>
              <a:t> &gt; 59)  digit_10 &lt;= 6;</a:t>
            </a:r>
          </a:p>
          <a:p>
            <a:r>
              <a:rPr lang="ko-KR" altLang="en-US" sz="1200" dirty="0"/>
              <a:t>                    </a:t>
            </a:r>
            <a:r>
              <a:rPr lang="ko-KR" altLang="en-US" sz="1200" dirty="0" err="1"/>
              <a:t>else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(</a:t>
            </a:r>
            <a:r>
              <a:rPr lang="ko-KR" altLang="en-US" sz="1200" dirty="0" err="1"/>
              <a:t>hex_temp</a:t>
            </a:r>
            <a:r>
              <a:rPr lang="ko-KR" altLang="en-US" sz="1200" dirty="0"/>
              <a:t> &gt; 49)  digit_10 &lt;= 5;</a:t>
            </a:r>
          </a:p>
          <a:p>
            <a:r>
              <a:rPr lang="ko-KR" altLang="en-US" sz="1200" dirty="0"/>
              <a:t>                    </a:t>
            </a:r>
            <a:r>
              <a:rPr lang="ko-KR" altLang="en-US" sz="1200" dirty="0" err="1"/>
              <a:t>else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(</a:t>
            </a:r>
            <a:r>
              <a:rPr lang="ko-KR" altLang="en-US" sz="1200" dirty="0" err="1"/>
              <a:t>hex_temp</a:t>
            </a:r>
            <a:r>
              <a:rPr lang="ko-KR" altLang="en-US" sz="1200" dirty="0"/>
              <a:t> &gt; 39)  digit_10 &lt;= 4;</a:t>
            </a:r>
          </a:p>
          <a:p>
            <a:r>
              <a:rPr lang="ko-KR" altLang="en-US" sz="1200" dirty="0"/>
              <a:t>                    </a:t>
            </a:r>
            <a:r>
              <a:rPr lang="ko-KR" altLang="en-US" sz="1200" dirty="0" err="1"/>
              <a:t>else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(</a:t>
            </a:r>
            <a:r>
              <a:rPr lang="ko-KR" altLang="en-US" sz="1200" dirty="0" err="1"/>
              <a:t>hex_temp</a:t>
            </a:r>
            <a:r>
              <a:rPr lang="ko-KR" altLang="en-US" sz="1200" dirty="0"/>
              <a:t> &gt; 29)  digit_10 &lt;= 3;</a:t>
            </a:r>
          </a:p>
          <a:p>
            <a:r>
              <a:rPr lang="ko-KR" altLang="en-US" sz="1200" dirty="0"/>
              <a:t>                    </a:t>
            </a:r>
            <a:r>
              <a:rPr lang="ko-KR" altLang="en-US" sz="1200" dirty="0" err="1"/>
              <a:t>else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(</a:t>
            </a:r>
            <a:r>
              <a:rPr lang="ko-KR" altLang="en-US" sz="1200" dirty="0" err="1"/>
              <a:t>hex_temp</a:t>
            </a:r>
            <a:r>
              <a:rPr lang="ko-KR" altLang="en-US" sz="1200" dirty="0"/>
              <a:t> &gt; 19)  digit_10 &lt;= 2;</a:t>
            </a:r>
          </a:p>
          <a:p>
            <a:r>
              <a:rPr lang="ko-KR" altLang="en-US" sz="1200" dirty="0"/>
              <a:t>                    </a:t>
            </a:r>
            <a:r>
              <a:rPr lang="ko-KR" altLang="en-US" sz="1200" dirty="0" err="1"/>
              <a:t>else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(</a:t>
            </a:r>
            <a:r>
              <a:rPr lang="ko-KR" altLang="en-US" sz="1200" dirty="0" err="1"/>
              <a:t>hex_temp</a:t>
            </a:r>
            <a:r>
              <a:rPr lang="ko-KR" altLang="en-US" sz="1200" dirty="0"/>
              <a:t> &gt; 9)    digit_10 &lt;= 1;</a:t>
            </a:r>
          </a:p>
          <a:p>
            <a:r>
              <a:rPr lang="ko-KR" altLang="en-US" sz="1200" dirty="0"/>
              <a:t>                    </a:t>
            </a:r>
            <a:r>
              <a:rPr lang="ko-KR" altLang="en-US" sz="1200" dirty="0" err="1"/>
              <a:t>else</a:t>
            </a:r>
            <a:r>
              <a:rPr lang="ko-KR" altLang="en-US" sz="1200" dirty="0"/>
              <a:t>            </a:t>
            </a:r>
            <a:r>
              <a:rPr lang="ko-KR" altLang="en-US" sz="1200" dirty="0" smtClean="0"/>
              <a:t>digit_10 </a:t>
            </a:r>
            <a:r>
              <a:rPr lang="ko-KR" altLang="en-US" sz="1200" dirty="0"/>
              <a:t>&lt;= 0;</a:t>
            </a:r>
          </a:p>
          <a:p>
            <a:r>
              <a:rPr lang="ko-KR" altLang="en-US" sz="1200" dirty="0"/>
              <a:t>                </a:t>
            </a:r>
            <a:r>
              <a:rPr lang="ko-KR" altLang="en-US" sz="1200" dirty="0" err="1"/>
              <a:t>else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(</a:t>
            </a:r>
            <a:r>
              <a:rPr lang="ko-KR" altLang="en-US" sz="1200" dirty="0" err="1"/>
              <a:t>cnt</a:t>
            </a:r>
            <a:r>
              <a:rPr lang="ko-KR" altLang="en-US" sz="1200" dirty="0"/>
              <a:t> == 2) </a:t>
            </a:r>
            <a:r>
              <a:rPr lang="ko-KR" altLang="en-US" sz="1200" dirty="0" smtClean="0"/>
              <a:t>digit_1 </a:t>
            </a:r>
            <a:r>
              <a:rPr lang="ko-KR" altLang="en-US" sz="1200" dirty="0"/>
              <a:t>&lt;= </a:t>
            </a:r>
            <a:r>
              <a:rPr lang="ko-KR" altLang="en-US" sz="1200" dirty="0" err="1"/>
              <a:t>hex_temp</a:t>
            </a:r>
            <a:r>
              <a:rPr lang="ko-KR" altLang="en-US" sz="1200" dirty="0"/>
              <a:t> - digit_10 * 10;</a:t>
            </a:r>
          </a:p>
          <a:p>
            <a:r>
              <a:rPr lang="ko-KR" altLang="en-US" sz="1200" dirty="0"/>
              <a:t>                </a:t>
            </a:r>
            <a:r>
              <a:rPr lang="ko-KR" altLang="en-US" sz="1200" dirty="0" err="1"/>
              <a:t>else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if</a:t>
            </a:r>
            <a:r>
              <a:rPr lang="ko-KR" altLang="en-US" sz="1200" dirty="0"/>
              <a:t>(</a:t>
            </a:r>
            <a:r>
              <a:rPr lang="ko-KR" altLang="en-US" sz="1200" dirty="0" err="1"/>
              <a:t>cnt</a:t>
            </a:r>
            <a:r>
              <a:rPr lang="ko-KR" altLang="en-US" sz="1200" dirty="0"/>
              <a:t> == 3) </a:t>
            </a:r>
            <a:r>
              <a:rPr lang="ko-KR" altLang="en-US" sz="1200" dirty="0" err="1"/>
              <a:t>begin</a:t>
            </a:r>
            <a:endParaRPr lang="ko-KR" altLang="en-US" sz="1200" dirty="0"/>
          </a:p>
          <a:p>
            <a:r>
              <a:rPr lang="ko-KR" altLang="en-US" sz="1200" dirty="0"/>
              <a:t>                    </a:t>
            </a:r>
            <a:r>
              <a:rPr lang="ko-KR" altLang="en-US" sz="1200" dirty="0" err="1"/>
              <a:t>en</a:t>
            </a:r>
            <a:r>
              <a:rPr lang="ko-KR" altLang="en-US" sz="1200" dirty="0"/>
              <a:t> &lt;= 0;</a:t>
            </a:r>
          </a:p>
          <a:p>
            <a:r>
              <a:rPr lang="ko-KR" altLang="en-US" sz="1200" dirty="0"/>
              <a:t>                    </a:t>
            </a:r>
            <a:r>
              <a:rPr lang="ko-KR" altLang="en-US" sz="1200" dirty="0" err="1"/>
              <a:t>cnt</a:t>
            </a:r>
            <a:r>
              <a:rPr lang="ko-KR" altLang="en-US" sz="1200" dirty="0"/>
              <a:t> &lt;= 3'd0;</a:t>
            </a:r>
          </a:p>
          <a:p>
            <a:r>
              <a:rPr lang="ko-KR" altLang="en-US" sz="1200" dirty="0"/>
              <a:t>                    BCD &lt;= {digit_10, digit_1};</a:t>
            </a:r>
          </a:p>
          <a:p>
            <a:r>
              <a:rPr lang="ko-KR" altLang="en-US" sz="1200" dirty="0"/>
              <a:t>                </a:t>
            </a:r>
            <a:r>
              <a:rPr lang="ko-KR" altLang="en-US" sz="1200" dirty="0" err="1"/>
              <a:t>end</a:t>
            </a:r>
            <a:endParaRPr lang="ko-KR" altLang="en-US" sz="1200" dirty="0"/>
          </a:p>
          <a:p>
            <a:r>
              <a:rPr lang="ko-KR" altLang="en-US" sz="1200" dirty="0"/>
              <a:t>            </a:t>
            </a:r>
            <a:r>
              <a:rPr lang="ko-KR" altLang="en-US" sz="1200" dirty="0" err="1"/>
              <a:t>end</a:t>
            </a:r>
            <a:endParaRPr lang="ko-KR" altLang="en-US" sz="1200" dirty="0"/>
          </a:p>
          <a:p>
            <a:r>
              <a:rPr lang="ko-KR" altLang="en-US" sz="1200" dirty="0"/>
              <a:t>        </a:t>
            </a:r>
            <a:r>
              <a:rPr lang="ko-KR" altLang="en-US" sz="1200" dirty="0" err="1"/>
              <a:t>end</a:t>
            </a:r>
            <a:endParaRPr lang="ko-KR" altLang="en-US" sz="1200" dirty="0"/>
          </a:p>
          <a:p>
            <a:r>
              <a:rPr lang="ko-KR" altLang="en-US" sz="1200" dirty="0"/>
              <a:t>    </a:t>
            </a:r>
            <a:r>
              <a:rPr lang="ko-KR" altLang="en-US" sz="1200" dirty="0" err="1" smtClean="0"/>
              <a:t>end</a:t>
            </a:r>
            <a:endParaRPr lang="en-US" altLang="ko-KR" sz="1200" dirty="0" smtClean="0"/>
          </a:p>
          <a:p>
            <a:r>
              <a:rPr lang="ko-KR" altLang="en-US" sz="1200" dirty="0" err="1" smtClean="0"/>
              <a:t>endmodule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2972392" y="-4703"/>
            <a:ext cx="6096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400" dirty="0" err="1"/>
              <a:t>always</a:t>
            </a:r>
            <a:r>
              <a:rPr lang="ko-KR" altLang="en-US" sz="1400" dirty="0"/>
              <a:t> @ (</a:t>
            </a:r>
            <a:r>
              <a:rPr lang="ko-KR" altLang="en-US" sz="1400" dirty="0" err="1"/>
              <a:t>posedge</a:t>
            </a:r>
            <a:r>
              <a:rPr lang="ko-KR" altLang="en-US" sz="1400" dirty="0"/>
              <a:t> CLK) </a:t>
            </a:r>
            <a:r>
              <a:rPr lang="ko-KR" altLang="en-US" sz="1400" dirty="0" err="1"/>
              <a:t>begin</a:t>
            </a:r>
            <a:endParaRPr lang="ko-KR" altLang="en-US" sz="1400" dirty="0"/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if</a:t>
            </a:r>
            <a:r>
              <a:rPr lang="ko-KR" altLang="en-US" sz="1400" dirty="0"/>
              <a:t>(RST) </a:t>
            </a:r>
            <a:r>
              <a:rPr lang="ko-KR" altLang="en-US" sz="1400" dirty="0" err="1"/>
              <a:t>begin</a:t>
            </a:r>
            <a:endParaRPr lang="ko-KR" altLang="en-US" sz="1400" dirty="0"/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cnt</a:t>
            </a:r>
            <a:r>
              <a:rPr lang="ko-KR" altLang="en-US" sz="1400" dirty="0"/>
              <a:t> &lt;= 3'd0;</a:t>
            </a:r>
          </a:p>
          <a:p>
            <a:r>
              <a:rPr lang="ko-KR" altLang="en-US" sz="1400" dirty="0"/>
              <a:t>            digit_10 = 4'd0;</a:t>
            </a:r>
          </a:p>
          <a:p>
            <a:r>
              <a:rPr lang="ko-KR" altLang="en-US" sz="1400" dirty="0"/>
              <a:t>            digit_1 = 4'd0;</a:t>
            </a:r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hex_temp</a:t>
            </a:r>
            <a:r>
              <a:rPr lang="ko-KR" altLang="en-US" sz="1400" dirty="0"/>
              <a:t> = 7'd0;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end</a:t>
            </a:r>
            <a:endParaRPr lang="ko-KR" altLang="en-US" sz="1400" dirty="0"/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else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begin</a:t>
            </a:r>
            <a:endParaRPr lang="ko-KR" altLang="en-US" sz="1400" dirty="0"/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if</a:t>
            </a:r>
            <a:r>
              <a:rPr lang="ko-KR" altLang="en-US" sz="1400" dirty="0"/>
              <a:t>(</a:t>
            </a:r>
            <a:r>
              <a:rPr lang="ko-KR" altLang="en-US" sz="1400" dirty="0" err="1"/>
              <a:t>pls_rising</a:t>
            </a:r>
            <a:r>
              <a:rPr lang="ko-KR" altLang="en-US" sz="1400" dirty="0"/>
              <a:t>) </a:t>
            </a:r>
            <a:r>
              <a:rPr lang="ko-KR" altLang="en-US" sz="1400" dirty="0" err="1"/>
              <a:t>begin</a:t>
            </a:r>
            <a:endParaRPr lang="ko-KR" altLang="en-US" sz="1400" dirty="0"/>
          </a:p>
          <a:p>
            <a:r>
              <a:rPr lang="ko-KR" altLang="en-US" sz="1400" dirty="0"/>
              <a:t>                </a:t>
            </a:r>
            <a:r>
              <a:rPr lang="ko-KR" altLang="en-US" sz="1400" dirty="0" err="1"/>
              <a:t>en</a:t>
            </a:r>
            <a:r>
              <a:rPr lang="ko-KR" altLang="en-US" sz="1400" dirty="0"/>
              <a:t> &lt;= 1;</a:t>
            </a:r>
          </a:p>
          <a:p>
            <a:r>
              <a:rPr lang="ko-KR" altLang="en-US" sz="1400" dirty="0"/>
              <a:t>                </a:t>
            </a:r>
            <a:r>
              <a:rPr lang="ko-KR" altLang="en-US" sz="1400" dirty="0" err="1"/>
              <a:t>hex_temp</a:t>
            </a:r>
            <a:r>
              <a:rPr lang="ko-KR" altLang="en-US" sz="1400" dirty="0"/>
              <a:t> &lt;= HEX;</a:t>
            </a:r>
          </a:p>
          <a:p>
            <a:r>
              <a:rPr lang="ko-KR" altLang="en-US" sz="1400" dirty="0"/>
              <a:t>                </a:t>
            </a:r>
            <a:r>
              <a:rPr lang="ko-KR" altLang="en-US" sz="1400" dirty="0" err="1"/>
              <a:t>cnt</a:t>
            </a:r>
            <a:r>
              <a:rPr lang="ko-KR" altLang="en-US" sz="1400" dirty="0"/>
              <a:t> &lt;= </a:t>
            </a:r>
            <a:r>
              <a:rPr lang="ko-KR" altLang="en-US" sz="1400" dirty="0" err="1"/>
              <a:t>cnt</a:t>
            </a:r>
            <a:r>
              <a:rPr lang="ko-KR" altLang="en-US" sz="1400" dirty="0"/>
              <a:t> + 1;</a:t>
            </a:r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end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60714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ko-KR" altLang="en-US" sz="1500" dirty="0" err="1" smtClean="0"/>
              <a:t>조건문</a:t>
            </a:r>
            <a:r>
              <a:rPr lang="ko-KR" altLang="en-US" sz="1500" dirty="0" smtClean="0"/>
              <a:t> 방식의 </a:t>
            </a:r>
            <a:r>
              <a:rPr lang="en-US" altLang="ko-KR" sz="1500" dirty="0" smtClean="0"/>
              <a:t>Utilization</a:t>
            </a:r>
            <a:endParaRPr lang="ko-KR" altLang="en-US" sz="15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0363"/>
            <a:ext cx="10641912" cy="657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237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err="1" smtClean="0"/>
              <a:t>hex_cnt_BCD</a:t>
            </a:r>
            <a:r>
              <a:rPr lang="en-US" altLang="ko-KR" sz="1500" dirty="0" smtClean="0"/>
              <a:t>(</a:t>
            </a:r>
            <a:r>
              <a:rPr lang="en-US" altLang="ko-KR" sz="1500" dirty="0" err="1" smtClean="0"/>
              <a:t>hex_cnt</a:t>
            </a:r>
            <a:r>
              <a:rPr lang="en-US" altLang="ko-KR" sz="1500" dirty="0" smtClean="0"/>
              <a:t> + 2*hex2BCD)</a:t>
            </a:r>
          </a:p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2" y="382260"/>
            <a:ext cx="11411577" cy="647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847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err="1"/>
              <a:t>hex_cnt_BCD</a:t>
            </a:r>
            <a:r>
              <a:rPr lang="en-US" altLang="ko-KR" sz="1500" dirty="0"/>
              <a:t>(</a:t>
            </a:r>
            <a:r>
              <a:rPr lang="en-US" altLang="ko-KR" sz="1500" dirty="0" err="1"/>
              <a:t>hex_cnt</a:t>
            </a:r>
            <a:r>
              <a:rPr lang="en-US" altLang="ko-KR" sz="1500" dirty="0"/>
              <a:t> + 2*hex2BCD</a:t>
            </a:r>
            <a:r>
              <a:rPr lang="en-US" altLang="ko-KR" sz="1500" dirty="0" smtClean="0"/>
              <a:t>) </a:t>
            </a:r>
            <a:r>
              <a:rPr lang="ko-KR" altLang="en-US" sz="1500" dirty="0" smtClean="0"/>
              <a:t>코드</a:t>
            </a:r>
            <a:endParaRPr lang="ko-KR" altLang="en-US" sz="1500" dirty="0"/>
          </a:p>
        </p:txBody>
      </p:sp>
      <p:sp>
        <p:nvSpPr>
          <p:cNvPr id="4" name="직사각형 3"/>
          <p:cNvSpPr/>
          <p:nvPr/>
        </p:nvSpPr>
        <p:spPr>
          <a:xfrm>
            <a:off x="0" y="428625"/>
            <a:ext cx="561975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`</a:t>
            </a:r>
            <a:r>
              <a:rPr lang="ko-KR" altLang="en-US" dirty="0" err="1"/>
              <a:t>timescale</a:t>
            </a:r>
            <a:r>
              <a:rPr lang="ko-KR" altLang="en-US" dirty="0"/>
              <a:t> 1ns / 1ps</a:t>
            </a:r>
          </a:p>
          <a:p>
            <a:r>
              <a:rPr lang="ko-KR" altLang="en-US" dirty="0" err="1"/>
              <a:t>module</a:t>
            </a:r>
            <a:r>
              <a:rPr lang="ko-KR" altLang="en-US" dirty="0"/>
              <a:t> </a:t>
            </a:r>
            <a:r>
              <a:rPr lang="ko-KR" altLang="en-US" dirty="0" err="1"/>
              <a:t>hex_cnt_bcd</a:t>
            </a:r>
            <a:r>
              <a:rPr lang="ko-KR" altLang="en-US" dirty="0"/>
              <a:t>(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input</a:t>
            </a:r>
            <a:r>
              <a:rPr lang="ko-KR" altLang="en-US" dirty="0"/>
              <a:t> CLK, PLS_100, CLR, DISP_MOD,RST,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output</a:t>
            </a:r>
            <a:r>
              <a:rPr lang="ko-KR" altLang="en-US" dirty="0"/>
              <a:t> [7:0] bcd_1, bcd_0</a:t>
            </a:r>
          </a:p>
          <a:p>
            <a:r>
              <a:rPr lang="ko-KR" altLang="en-US" dirty="0"/>
              <a:t>    );</a:t>
            </a:r>
          </a:p>
          <a:p>
            <a:r>
              <a:rPr lang="ko-KR" altLang="en-US" dirty="0" err="1"/>
              <a:t>wire</a:t>
            </a:r>
            <a:r>
              <a:rPr lang="ko-KR" altLang="en-US" dirty="0"/>
              <a:t> [6:0] hex1, hex0, </a:t>
            </a:r>
            <a:r>
              <a:rPr lang="ko-KR" altLang="en-US" dirty="0" err="1"/>
              <a:t>hex_min</a:t>
            </a:r>
            <a:r>
              <a:rPr lang="ko-KR" altLang="en-US" dirty="0"/>
              <a:t>, </a:t>
            </a:r>
            <a:r>
              <a:rPr lang="ko-KR" altLang="en-US" dirty="0" err="1"/>
              <a:t>hex_sec</a:t>
            </a:r>
            <a:r>
              <a:rPr lang="ko-KR" altLang="en-US" dirty="0"/>
              <a:t>, </a:t>
            </a:r>
            <a:r>
              <a:rPr lang="ko-KR" altLang="en-US" dirty="0" err="1"/>
              <a:t>hex_msec</a:t>
            </a:r>
            <a:r>
              <a:rPr lang="ko-KR" altLang="en-US" dirty="0"/>
              <a:t>;</a:t>
            </a:r>
          </a:p>
          <a:p>
            <a:r>
              <a:rPr lang="ko-KR" altLang="en-US" dirty="0" err="1"/>
              <a:t>wire</a:t>
            </a:r>
            <a:r>
              <a:rPr lang="ko-KR" altLang="en-US" dirty="0"/>
              <a:t> </a:t>
            </a:r>
            <a:r>
              <a:rPr lang="ko-KR" altLang="en-US" dirty="0" err="1"/>
              <a:t>rst_setup</a:t>
            </a:r>
            <a:r>
              <a:rPr lang="ko-KR" altLang="en-US" dirty="0"/>
              <a:t>;</a:t>
            </a:r>
          </a:p>
          <a:p>
            <a:r>
              <a:rPr lang="ko-KR" altLang="en-US" dirty="0"/>
              <a:t> </a:t>
            </a:r>
            <a:r>
              <a:rPr lang="ko-KR" altLang="en-US" dirty="0" err="1"/>
              <a:t>hex_cnt_test</a:t>
            </a:r>
            <a:r>
              <a:rPr lang="ko-KR" altLang="en-US" dirty="0"/>
              <a:t> uut1(</a:t>
            </a:r>
          </a:p>
          <a:p>
            <a:r>
              <a:rPr lang="ko-KR" altLang="en-US" dirty="0"/>
              <a:t>    . CLK(CLK),</a:t>
            </a:r>
          </a:p>
          <a:p>
            <a:r>
              <a:rPr lang="ko-KR" altLang="en-US" dirty="0"/>
              <a:t>    . PLS_100(PLS_100),</a:t>
            </a:r>
          </a:p>
          <a:p>
            <a:r>
              <a:rPr lang="ko-KR" altLang="en-US" dirty="0"/>
              <a:t>    . RST(</a:t>
            </a:r>
            <a:r>
              <a:rPr lang="ko-KR" altLang="en-US" dirty="0" err="1"/>
              <a:t>rst_setup</a:t>
            </a:r>
            <a:r>
              <a:rPr lang="ko-KR" altLang="en-US" dirty="0"/>
              <a:t>),</a:t>
            </a:r>
          </a:p>
          <a:p>
            <a:r>
              <a:rPr lang="ko-KR" altLang="en-US" dirty="0"/>
              <a:t>    . HEX_MIN(</a:t>
            </a:r>
            <a:r>
              <a:rPr lang="ko-KR" altLang="en-US" dirty="0" err="1"/>
              <a:t>hex_min</a:t>
            </a:r>
            <a:r>
              <a:rPr lang="ko-KR" altLang="en-US" dirty="0"/>
              <a:t>),</a:t>
            </a:r>
          </a:p>
          <a:p>
            <a:r>
              <a:rPr lang="ko-KR" altLang="en-US" dirty="0"/>
              <a:t>    . HEX_SEC(</a:t>
            </a:r>
            <a:r>
              <a:rPr lang="ko-KR" altLang="en-US" dirty="0" err="1"/>
              <a:t>hex_sec</a:t>
            </a:r>
            <a:r>
              <a:rPr lang="ko-KR" altLang="en-US" dirty="0"/>
              <a:t>),</a:t>
            </a:r>
          </a:p>
          <a:p>
            <a:r>
              <a:rPr lang="ko-KR" altLang="en-US" dirty="0"/>
              <a:t>    . HEX_MSEC(</a:t>
            </a:r>
            <a:r>
              <a:rPr lang="ko-KR" altLang="en-US" dirty="0" err="1"/>
              <a:t>hex_msec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);</a:t>
            </a:r>
          </a:p>
          <a:p>
            <a:endParaRPr lang="ko-KR" altLang="en-US" dirty="0"/>
          </a:p>
          <a:p>
            <a:r>
              <a:rPr lang="ko-KR" altLang="en-US" dirty="0"/>
              <a:t>hex2BCD uut2(</a:t>
            </a:r>
          </a:p>
          <a:p>
            <a:r>
              <a:rPr lang="ko-KR" altLang="en-US" dirty="0"/>
              <a:t>    . CLK(CLK),</a:t>
            </a:r>
          </a:p>
          <a:p>
            <a:r>
              <a:rPr lang="ko-KR" altLang="en-US" dirty="0"/>
              <a:t>    . PLS_100(PLS_100),</a:t>
            </a:r>
          </a:p>
          <a:p>
            <a:r>
              <a:rPr lang="ko-KR" altLang="en-US" dirty="0"/>
              <a:t>    . RST(</a:t>
            </a:r>
            <a:r>
              <a:rPr lang="ko-KR" altLang="en-US" dirty="0" err="1"/>
              <a:t>rst_setup</a:t>
            </a:r>
            <a:r>
              <a:rPr lang="ko-KR" altLang="en-US" dirty="0"/>
              <a:t>),</a:t>
            </a:r>
          </a:p>
          <a:p>
            <a:r>
              <a:rPr lang="ko-KR" altLang="en-US" dirty="0"/>
              <a:t>    . HEX(hex1),</a:t>
            </a:r>
          </a:p>
          <a:p>
            <a:r>
              <a:rPr lang="ko-KR" altLang="en-US" dirty="0"/>
              <a:t>    . BCD(bcd_1)</a:t>
            </a:r>
          </a:p>
          <a:p>
            <a:r>
              <a:rPr lang="ko-KR" altLang="en-US" dirty="0"/>
              <a:t>    );</a:t>
            </a:r>
          </a:p>
          <a:p>
            <a:r>
              <a:rPr lang="ko-KR" altLang="en-US" dirty="0"/>
              <a:t>   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619750" y="428625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hex2BCD uut3(</a:t>
            </a:r>
          </a:p>
          <a:p>
            <a:r>
              <a:rPr lang="ko-KR" altLang="en-US" dirty="0"/>
              <a:t>    . CLK(CLK),</a:t>
            </a:r>
          </a:p>
          <a:p>
            <a:r>
              <a:rPr lang="ko-KR" altLang="en-US" dirty="0"/>
              <a:t>    . PLS_100(PLS_100),</a:t>
            </a:r>
          </a:p>
          <a:p>
            <a:r>
              <a:rPr lang="ko-KR" altLang="en-US" dirty="0"/>
              <a:t>    . RST(</a:t>
            </a:r>
            <a:r>
              <a:rPr lang="ko-KR" altLang="en-US" dirty="0" err="1"/>
              <a:t>rst_setup</a:t>
            </a:r>
            <a:r>
              <a:rPr lang="ko-KR" altLang="en-US" dirty="0"/>
              <a:t>),</a:t>
            </a:r>
          </a:p>
          <a:p>
            <a:r>
              <a:rPr lang="ko-KR" altLang="en-US" dirty="0"/>
              <a:t>    . HEX(hex0),</a:t>
            </a:r>
          </a:p>
          <a:p>
            <a:r>
              <a:rPr lang="ko-KR" altLang="en-US" dirty="0"/>
              <a:t>    . BCD(bcd_0)</a:t>
            </a:r>
          </a:p>
          <a:p>
            <a:r>
              <a:rPr lang="ko-KR" altLang="en-US" dirty="0"/>
              <a:t>    );</a:t>
            </a:r>
          </a:p>
          <a:p>
            <a:endParaRPr lang="ko-KR" altLang="en-US" dirty="0"/>
          </a:p>
          <a:p>
            <a:r>
              <a:rPr lang="ko-KR" altLang="en-US" dirty="0" err="1"/>
              <a:t>assign</a:t>
            </a:r>
            <a:r>
              <a:rPr lang="ko-KR" altLang="en-US" dirty="0"/>
              <a:t> hex1 = DISP_MOD ? </a:t>
            </a:r>
            <a:r>
              <a:rPr lang="ko-KR" altLang="en-US" dirty="0" err="1"/>
              <a:t>hex_min</a:t>
            </a:r>
            <a:r>
              <a:rPr lang="ko-KR" altLang="en-US" dirty="0"/>
              <a:t> : </a:t>
            </a:r>
            <a:r>
              <a:rPr lang="ko-KR" altLang="en-US" dirty="0" err="1"/>
              <a:t>hex_sec</a:t>
            </a:r>
            <a:r>
              <a:rPr lang="ko-KR" altLang="en-US" dirty="0"/>
              <a:t>;</a:t>
            </a:r>
          </a:p>
          <a:p>
            <a:r>
              <a:rPr lang="ko-KR" altLang="en-US" dirty="0" err="1"/>
              <a:t>assign</a:t>
            </a:r>
            <a:r>
              <a:rPr lang="ko-KR" altLang="en-US" dirty="0"/>
              <a:t> hex0 = DISP_MOD ? </a:t>
            </a:r>
            <a:r>
              <a:rPr lang="ko-KR" altLang="en-US" dirty="0" err="1"/>
              <a:t>hex_sec</a:t>
            </a:r>
            <a:r>
              <a:rPr lang="ko-KR" altLang="en-US" dirty="0"/>
              <a:t> : </a:t>
            </a:r>
            <a:r>
              <a:rPr lang="ko-KR" altLang="en-US" dirty="0" err="1"/>
              <a:t>hex_msec</a:t>
            </a:r>
            <a:r>
              <a:rPr lang="ko-KR" altLang="en-US" dirty="0"/>
              <a:t>;</a:t>
            </a:r>
          </a:p>
          <a:p>
            <a:r>
              <a:rPr lang="ko-KR" altLang="en-US" dirty="0" err="1"/>
              <a:t>assign</a:t>
            </a:r>
            <a:r>
              <a:rPr lang="ko-KR" altLang="en-US" dirty="0"/>
              <a:t> </a:t>
            </a:r>
            <a:r>
              <a:rPr lang="ko-KR" altLang="en-US" dirty="0" err="1"/>
              <a:t>rst_setup</a:t>
            </a:r>
            <a:r>
              <a:rPr lang="ko-KR" altLang="en-US" dirty="0"/>
              <a:t> = RST || CLR ? 1 : 0;</a:t>
            </a:r>
          </a:p>
          <a:p>
            <a:endParaRPr lang="ko-KR" altLang="en-US" dirty="0"/>
          </a:p>
          <a:p>
            <a:r>
              <a:rPr lang="ko-KR" altLang="en-US" dirty="0" err="1"/>
              <a:t>endmodule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71896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smtClean="0"/>
              <a:t>Display Mode </a:t>
            </a:r>
            <a:r>
              <a:rPr lang="ko-KR" altLang="en-US" sz="1500" dirty="0" smtClean="0"/>
              <a:t>값에 따라 </a:t>
            </a:r>
            <a:r>
              <a:rPr lang="en-US" altLang="ko-KR" sz="1500" dirty="0" smtClean="0"/>
              <a:t>BCD</a:t>
            </a:r>
            <a:r>
              <a:rPr lang="ko-KR" altLang="en-US" sz="1500" dirty="0" smtClean="0"/>
              <a:t>값이 변하는 것과 </a:t>
            </a:r>
            <a:r>
              <a:rPr lang="en-US" altLang="ko-KR" sz="1500" dirty="0" smtClean="0"/>
              <a:t>Clear(</a:t>
            </a:r>
            <a:r>
              <a:rPr lang="en-US" altLang="ko-KR" sz="1500" dirty="0" err="1" smtClean="0"/>
              <a:t>clr</a:t>
            </a:r>
            <a:r>
              <a:rPr lang="en-US" altLang="ko-KR" sz="1500" dirty="0" smtClean="0"/>
              <a:t>)</a:t>
            </a:r>
            <a:r>
              <a:rPr lang="ko-KR" altLang="en-US" sz="1500" dirty="0" smtClean="0"/>
              <a:t>신호에 따라 초기화가 되는 것 확인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347"/>
            <a:ext cx="12192000" cy="399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008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smtClean="0"/>
              <a:t>Display </a:t>
            </a:r>
            <a:r>
              <a:rPr lang="ko-KR" altLang="en-US" sz="1500" dirty="0" smtClean="0"/>
              <a:t>코드</a:t>
            </a:r>
            <a:endParaRPr lang="ko-KR" altLang="en-US" sz="1500" dirty="0"/>
          </a:p>
        </p:txBody>
      </p:sp>
      <p:sp>
        <p:nvSpPr>
          <p:cNvPr id="2" name="직사각형 1"/>
          <p:cNvSpPr/>
          <p:nvPr/>
        </p:nvSpPr>
        <p:spPr>
          <a:xfrm>
            <a:off x="0" y="336726"/>
            <a:ext cx="6096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400" dirty="0"/>
              <a:t>`</a:t>
            </a:r>
            <a:r>
              <a:rPr lang="ko-KR" altLang="en-US" sz="1400" dirty="0" err="1"/>
              <a:t>timescale</a:t>
            </a:r>
            <a:r>
              <a:rPr lang="ko-KR" altLang="en-US" sz="1400" dirty="0"/>
              <a:t> 1ns / 1ps</a:t>
            </a:r>
          </a:p>
          <a:p>
            <a:r>
              <a:rPr lang="ko-KR" altLang="en-US" sz="1400" dirty="0" err="1"/>
              <a:t>module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watch_disp_ctl</a:t>
            </a:r>
            <a:r>
              <a:rPr lang="ko-KR" altLang="en-US" sz="1400" dirty="0"/>
              <a:t>(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input</a:t>
            </a:r>
            <a:r>
              <a:rPr lang="ko-KR" altLang="en-US" sz="1400" dirty="0"/>
              <a:t> CLK,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input</a:t>
            </a:r>
            <a:r>
              <a:rPr lang="ko-KR" altLang="en-US" sz="1400" dirty="0"/>
              <a:t> RST,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input</a:t>
            </a:r>
            <a:r>
              <a:rPr lang="ko-KR" altLang="en-US" sz="1400" dirty="0"/>
              <a:t> [7:0] BCD,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input</a:t>
            </a:r>
            <a:r>
              <a:rPr lang="ko-KR" altLang="en-US" sz="1400" dirty="0"/>
              <a:t> PLS_100,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output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reg</a:t>
            </a:r>
            <a:r>
              <a:rPr lang="ko-KR" altLang="en-US" sz="1400" dirty="0"/>
              <a:t> [6:0] SEG7,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output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reg</a:t>
            </a:r>
            <a:r>
              <a:rPr lang="ko-KR" altLang="en-US" sz="1400" dirty="0"/>
              <a:t> CS = 1'b0</a:t>
            </a:r>
          </a:p>
          <a:p>
            <a:r>
              <a:rPr lang="ko-KR" altLang="en-US" sz="1400" dirty="0"/>
              <a:t>   );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parameter</a:t>
            </a:r>
            <a:r>
              <a:rPr lang="ko-KR" altLang="en-US" sz="1400" dirty="0"/>
              <a:t> CLK_FREQ = 125_000_000;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wire</a:t>
            </a:r>
            <a:r>
              <a:rPr lang="ko-KR" altLang="en-US" sz="1400" dirty="0"/>
              <a:t> [3:0] </a:t>
            </a:r>
            <a:r>
              <a:rPr lang="ko-KR" altLang="en-US" sz="1400" dirty="0" err="1"/>
              <a:t>comp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reg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pls_pre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pls_cu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reg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CS_con</a:t>
            </a:r>
            <a:r>
              <a:rPr lang="ko-KR" altLang="en-US" sz="1400" dirty="0"/>
              <a:t> = 0;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reg</a:t>
            </a:r>
            <a:r>
              <a:rPr lang="ko-KR" altLang="en-US" sz="1400" dirty="0"/>
              <a:t> [27:0] </a:t>
            </a:r>
            <a:r>
              <a:rPr lang="ko-KR" altLang="en-US" sz="1400" dirty="0" err="1"/>
              <a:t>cnt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assign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pls_rising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pls_cu</a:t>
            </a:r>
            <a:r>
              <a:rPr lang="ko-KR" altLang="en-US" sz="1400" dirty="0"/>
              <a:t> &amp; ~</a:t>
            </a:r>
            <a:r>
              <a:rPr lang="ko-KR" altLang="en-US" sz="1400" dirty="0" err="1"/>
              <a:t>pls_pre</a:t>
            </a:r>
            <a:r>
              <a:rPr lang="ko-KR" altLang="en-US" sz="1400" dirty="0"/>
              <a:t>; 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assign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comp</a:t>
            </a:r>
            <a:r>
              <a:rPr lang="ko-KR" altLang="en-US" sz="1400" dirty="0"/>
              <a:t> = RST ? 4'd0000 : CS ?  BCD[7:4] : BCD[3:0];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always</a:t>
            </a:r>
            <a:r>
              <a:rPr lang="ko-KR" altLang="en-US" sz="1400" dirty="0"/>
              <a:t> @ (</a:t>
            </a:r>
            <a:r>
              <a:rPr lang="ko-KR" altLang="en-US" sz="1400" dirty="0" err="1"/>
              <a:t>posedge</a:t>
            </a:r>
            <a:r>
              <a:rPr lang="ko-KR" altLang="en-US" sz="1400" dirty="0"/>
              <a:t> CLK) </a:t>
            </a:r>
            <a:r>
              <a:rPr lang="ko-KR" altLang="en-US" sz="1400" dirty="0" err="1"/>
              <a:t>begin</a:t>
            </a:r>
            <a:endParaRPr lang="ko-KR" altLang="en-US" sz="1400" dirty="0"/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if</a:t>
            </a:r>
            <a:r>
              <a:rPr lang="ko-KR" altLang="en-US" sz="1400" dirty="0"/>
              <a:t>(</a:t>
            </a:r>
            <a:r>
              <a:rPr lang="ko-KR" altLang="en-US" sz="1400" dirty="0" err="1"/>
              <a:t>cnt</a:t>
            </a:r>
            <a:r>
              <a:rPr lang="ko-KR" altLang="en-US" sz="1400" dirty="0"/>
              <a:t> == CLK_FREQ / 1000 - 1) </a:t>
            </a:r>
            <a:r>
              <a:rPr lang="ko-KR" altLang="en-US" sz="1400" dirty="0" err="1"/>
              <a:t>begin</a:t>
            </a:r>
            <a:endParaRPr lang="ko-KR" altLang="en-US" sz="1400" dirty="0"/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cnt</a:t>
            </a:r>
            <a:r>
              <a:rPr lang="ko-KR" altLang="en-US" sz="1400" dirty="0"/>
              <a:t> &lt;= 28'd0;</a:t>
            </a:r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CS_con</a:t>
            </a:r>
            <a:r>
              <a:rPr lang="ko-KR" altLang="en-US" sz="1400" dirty="0"/>
              <a:t> &lt;= 1;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end</a:t>
            </a:r>
            <a:endParaRPr lang="ko-KR" altLang="en-US" sz="1400" dirty="0"/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else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begin</a:t>
            </a:r>
            <a:endParaRPr lang="ko-KR" altLang="en-US" sz="1400" dirty="0"/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cnt</a:t>
            </a:r>
            <a:r>
              <a:rPr lang="ko-KR" altLang="en-US" sz="1400" dirty="0"/>
              <a:t> &lt;= </a:t>
            </a:r>
            <a:r>
              <a:rPr lang="ko-KR" altLang="en-US" sz="1400" dirty="0" err="1"/>
              <a:t>cnt</a:t>
            </a:r>
            <a:r>
              <a:rPr lang="ko-KR" altLang="en-US" sz="1400" dirty="0"/>
              <a:t> + 1;</a:t>
            </a:r>
          </a:p>
          <a:p>
            <a:r>
              <a:rPr lang="ko-KR" altLang="en-US" sz="1400" dirty="0"/>
              <a:t>            </a:t>
            </a:r>
            <a:r>
              <a:rPr lang="ko-KR" altLang="en-US" sz="1400" dirty="0" err="1"/>
              <a:t>CS_con</a:t>
            </a:r>
            <a:r>
              <a:rPr lang="ko-KR" altLang="en-US" sz="1400" dirty="0"/>
              <a:t> &lt;= 0;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end</a:t>
            </a:r>
            <a:endParaRPr lang="ko-KR" altLang="en-US" sz="1400" dirty="0"/>
          </a:p>
          <a:p>
            <a:r>
              <a:rPr lang="ko-KR" altLang="en-US" sz="1400" dirty="0"/>
              <a:t>    </a:t>
            </a:r>
            <a:r>
              <a:rPr lang="ko-KR" altLang="en-US" sz="1400" dirty="0" err="1" smtClean="0"/>
              <a:t>end</a:t>
            </a:r>
            <a:endParaRPr lang="ko-KR" altLang="en-US" sz="1400" dirty="0"/>
          </a:p>
        </p:txBody>
      </p:sp>
      <p:sp>
        <p:nvSpPr>
          <p:cNvPr id="4" name="직사각형 3"/>
          <p:cNvSpPr/>
          <p:nvPr/>
        </p:nvSpPr>
        <p:spPr>
          <a:xfrm>
            <a:off x="5573843" y="117693"/>
            <a:ext cx="6096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dirty="0" err="1"/>
              <a:t>always</a:t>
            </a:r>
            <a:r>
              <a:rPr lang="ko-KR" altLang="en-US" dirty="0"/>
              <a:t> @ (</a:t>
            </a:r>
            <a:r>
              <a:rPr lang="ko-KR" altLang="en-US" dirty="0" err="1"/>
              <a:t>posedge</a:t>
            </a:r>
            <a:r>
              <a:rPr lang="ko-KR" altLang="en-US" dirty="0"/>
              <a:t> CLK) </a:t>
            </a:r>
            <a:r>
              <a:rPr lang="ko-KR" altLang="en-US" dirty="0" err="1"/>
              <a:t>begin</a:t>
            </a:r>
            <a:endParaRPr lang="ko-KR" altLang="en-US" dirty="0"/>
          </a:p>
          <a:p>
            <a:r>
              <a:rPr lang="ko-KR" altLang="en-US" dirty="0"/>
              <a:t>        </a:t>
            </a:r>
            <a:r>
              <a:rPr lang="ko-KR" altLang="en-US" dirty="0" err="1"/>
              <a:t>pls_cu</a:t>
            </a:r>
            <a:r>
              <a:rPr lang="ko-KR" altLang="en-US" dirty="0"/>
              <a:t> &lt;= PLS_100;</a:t>
            </a:r>
          </a:p>
          <a:p>
            <a:r>
              <a:rPr lang="ko-KR" altLang="en-US" dirty="0"/>
              <a:t>        </a:t>
            </a:r>
            <a:r>
              <a:rPr lang="ko-KR" altLang="en-US" dirty="0" err="1"/>
              <a:t>pls_pre</a:t>
            </a:r>
            <a:r>
              <a:rPr lang="ko-KR" altLang="en-US" dirty="0"/>
              <a:t> &lt;= </a:t>
            </a:r>
            <a:r>
              <a:rPr lang="ko-KR" altLang="en-US" dirty="0" err="1"/>
              <a:t>pls_cu</a:t>
            </a:r>
            <a:r>
              <a:rPr lang="ko-KR" altLang="en-US" dirty="0"/>
              <a:t>;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end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   </a:t>
            </a:r>
            <a:r>
              <a:rPr lang="ko-KR" altLang="en-US" dirty="0" err="1"/>
              <a:t>always</a:t>
            </a:r>
            <a:r>
              <a:rPr lang="ko-KR" altLang="en-US" dirty="0"/>
              <a:t> @(</a:t>
            </a:r>
            <a:r>
              <a:rPr lang="ko-KR" altLang="en-US" dirty="0" err="1"/>
              <a:t>posedge</a:t>
            </a:r>
            <a:r>
              <a:rPr lang="ko-KR" altLang="en-US" dirty="0"/>
              <a:t> CLK)</a:t>
            </a:r>
          </a:p>
          <a:p>
            <a:r>
              <a:rPr lang="ko-KR" altLang="en-US" dirty="0"/>
              <a:t>        </a:t>
            </a:r>
            <a:r>
              <a:rPr lang="ko-KR" altLang="en-US" dirty="0" err="1"/>
              <a:t>if</a:t>
            </a:r>
            <a:r>
              <a:rPr lang="ko-KR" altLang="en-US" dirty="0"/>
              <a:t>(</a:t>
            </a:r>
            <a:r>
              <a:rPr lang="ko-KR" altLang="en-US" dirty="0" err="1"/>
              <a:t>CS_con</a:t>
            </a:r>
            <a:r>
              <a:rPr lang="ko-KR" altLang="en-US" dirty="0"/>
              <a:t>) CS &lt;= ~CS;</a:t>
            </a:r>
          </a:p>
          <a:p>
            <a:endParaRPr lang="ko-KR" altLang="en-US" dirty="0"/>
          </a:p>
          <a:p>
            <a:r>
              <a:rPr lang="ko-KR" altLang="en-US" dirty="0"/>
              <a:t>   </a:t>
            </a:r>
            <a:r>
              <a:rPr lang="ko-KR" altLang="en-US" dirty="0" err="1"/>
              <a:t>always</a:t>
            </a:r>
            <a:r>
              <a:rPr lang="ko-KR" altLang="en-US" dirty="0"/>
              <a:t> @ (</a:t>
            </a:r>
            <a:r>
              <a:rPr lang="ko-KR" altLang="en-US" dirty="0" err="1"/>
              <a:t>comp</a:t>
            </a:r>
            <a:r>
              <a:rPr lang="ko-KR" altLang="en-US" dirty="0"/>
              <a:t>) </a:t>
            </a:r>
            <a:r>
              <a:rPr lang="ko-KR" altLang="en-US" dirty="0" err="1"/>
              <a:t>begin</a:t>
            </a:r>
            <a:endParaRPr lang="ko-KR" altLang="en-US" dirty="0"/>
          </a:p>
          <a:p>
            <a:r>
              <a:rPr lang="ko-KR" altLang="en-US" dirty="0"/>
              <a:t>        </a:t>
            </a:r>
            <a:r>
              <a:rPr lang="ko-KR" altLang="en-US" dirty="0" err="1"/>
              <a:t>case</a:t>
            </a:r>
            <a:r>
              <a:rPr lang="ko-KR" altLang="en-US" dirty="0"/>
              <a:t> (</a:t>
            </a:r>
            <a:r>
              <a:rPr lang="ko-KR" altLang="en-US" dirty="0" err="1"/>
              <a:t>comp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      4'b0000  :        SEG7 &lt;= 7'h7e;</a:t>
            </a:r>
          </a:p>
          <a:p>
            <a:r>
              <a:rPr lang="ko-KR" altLang="en-US" dirty="0"/>
              <a:t>            4'b0001  :        SEG7 &lt;= 7'h30;</a:t>
            </a:r>
          </a:p>
          <a:p>
            <a:r>
              <a:rPr lang="ko-KR" altLang="en-US" dirty="0"/>
              <a:t>            4'b0010  :        SEG7 &lt;= 7'h6d;</a:t>
            </a:r>
          </a:p>
          <a:p>
            <a:r>
              <a:rPr lang="ko-KR" altLang="en-US" dirty="0"/>
              <a:t>            4'b0011  :        SEG7 &lt;= 7'h79;</a:t>
            </a:r>
          </a:p>
          <a:p>
            <a:r>
              <a:rPr lang="ko-KR" altLang="en-US" dirty="0"/>
              <a:t>            4'b0100  :        SEG7 &lt;= 7'h33;</a:t>
            </a:r>
          </a:p>
          <a:p>
            <a:r>
              <a:rPr lang="ko-KR" altLang="en-US" dirty="0"/>
              <a:t>            4'b0101  :        SEG7 &lt;= 7'h5b;</a:t>
            </a:r>
          </a:p>
          <a:p>
            <a:r>
              <a:rPr lang="ko-KR" altLang="en-US" dirty="0"/>
              <a:t>            4'b0110  :        SEG7 &lt;= 7'h5f;</a:t>
            </a:r>
          </a:p>
          <a:p>
            <a:r>
              <a:rPr lang="ko-KR" altLang="en-US" dirty="0"/>
              <a:t>            4'b0111  :        SEG7 &lt;= 7'h70;</a:t>
            </a:r>
          </a:p>
          <a:p>
            <a:r>
              <a:rPr lang="ko-KR" altLang="en-US" dirty="0"/>
              <a:t>            4'b1000  :        SEG7 &lt;= 7'h7f;</a:t>
            </a:r>
          </a:p>
          <a:p>
            <a:r>
              <a:rPr lang="ko-KR" altLang="en-US" dirty="0"/>
              <a:t>            4'b1001  :        SEG7 &lt;= 7'h7b;</a:t>
            </a:r>
          </a:p>
          <a:p>
            <a:r>
              <a:rPr lang="ko-KR" altLang="en-US" dirty="0"/>
              <a:t>            </a:t>
            </a:r>
            <a:r>
              <a:rPr lang="ko-KR" altLang="en-US" dirty="0" err="1"/>
              <a:t>default</a:t>
            </a:r>
            <a:r>
              <a:rPr lang="ko-KR" altLang="en-US" dirty="0"/>
              <a:t>     :        SEG7 &lt;= 7'hxx;</a:t>
            </a:r>
          </a:p>
          <a:p>
            <a:r>
              <a:rPr lang="ko-KR" altLang="en-US" dirty="0"/>
              <a:t>        </a:t>
            </a:r>
            <a:r>
              <a:rPr lang="ko-KR" altLang="en-US" dirty="0" err="1"/>
              <a:t>endcase</a:t>
            </a:r>
            <a:endParaRPr lang="ko-KR" altLang="en-US" dirty="0"/>
          </a:p>
          <a:p>
            <a:r>
              <a:rPr lang="ko-KR" altLang="en-US" dirty="0"/>
              <a:t>    </a:t>
            </a:r>
            <a:r>
              <a:rPr lang="ko-KR" altLang="en-US" dirty="0" err="1"/>
              <a:t>end</a:t>
            </a:r>
            <a:endParaRPr lang="ko-KR" altLang="en-US" dirty="0"/>
          </a:p>
          <a:p>
            <a:r>
              <a:rPr lang="ko-KR" altLang="en-US" dirty="0" err="1"/>
              <a:t>endmodule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13169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err="1" smtClean="0"/>
              <a:t>Debounce</a:t>
            </a:r>
            <a:r>
              <a:rPr lang="en-US" altLang="ko-KR" sz="1500" dirty="0" smtClean="0"/>
              <a:t> </a:t>
            </a:r>
            <a:r>
              <a:rPr lang="ko-KR" altLang="en-US" sz="1500" dirty="0" smtClean="0"/>
              <a:t>코드</a:t>
            </a:r>
            <a:endParaRPr lang="en-US" altLang="ko-KR" sz="1500" dirty="0" smtClean="0"/>
          </a:p>
          <a:p>
            <a:pPr algn="l"/>
            <a:r>
              <a:rPr lang="en-US" altLang="ko-KR" sz="1500" dirty="0" smtClean="0"/>
              <a:t>20ms</a:t>
            </a:r>
            <a:r>
              <a:rPr lang="ko-KR" altLang="en-US" sz="1500" dirty="0" smtClean="0"/>
              <a:t>이상 </a:t>
            </a:r>
            <a:r>
              <a:rPr lang="en-US" altLang="ko-KR" sz="1500" dirty="0" smtClean="0"/>
              <a:t>on </a:t>
            </a:r>
            <a:r>
              <a:rPr lang="ko-KR" altLang="en-US" sz="1500" dirty="0" err="1" smtClean="0"/>
              <a:t>일때로</a:t>
            </a:r>
            <a:r>
              <a:rPr lang="ko-KR" altLang="en-US" sz="1500" dirty="0" smtClean="0"/>
              <a:t> 판정</a:t>
            </a:r>
            <a:endParaRPr lang="en-US" altLang="ko-KR" sz="1500" dirty="0"/>
          </a:p>
          <a:p>
            <a:pPr algn="l"/>
            <a:r>
              <a:rPr lang="en-US" altLang="ko-KR" sz="1500" dirty="0" smtClean="0"/>
              <a:t>2</a:t>
            </a:r>
            <a:r>
              <a:rPr lang="ko-KR" altLang="en-US" sz="1500" dirty="0" err="1" smtClean="0"/>
              <a:t>초이하로</a:t>
            </a:r>
            <a:r>
              <a:rPr lang="ko-KR" altLang="en-US" sz="1500" dirty="0" smtClean="0"/>
              <a:t> 누르면 </a:t>
            </a:r>
            <a:r>
              <a:rPr lang="en-US" altLang="ko-KR" sz="1500" dirty="0" smtClean="0"/>
              <a:t>short, </a:t>
            </a:r>
            <a:r>
              <a:rPr lang="ko-KR" altLang="en-US" sz="1500" dirty="0" smtClean="0"/>
              <a:t>이상 누르면 </a:t>
            </a:r>
            <a:r>
              <a:rPr lang="en-US" altLang="ko-KR" sz="1500" dirty="0" smtClean="0"/>
              <a:t>long,		</a:t>
            </a:r>
            <a:r>
              <a:rPr lang="en-US" altLang="ko-KR" sz="1500" dirty="0" err="1" smtClean="0"/>
              <a:t>pls</a:t>
            </a:r>
            <a:r>
              <a:rPr lang="ko-KR" altLang="en-US" sz="1500" dirty="0" smtClean="0"/>
              <a:t>는 </a:t>
            </a:r>
            <a:r>
              <a:rPr lang="en-US" altLang="ko-KR" sz="1500" dirty="0" smtClean="0"/>
              <a:t>1kHz</a:t>
            </a:r>
            <a:r>
              <a:rPr lang="ko-KR" altLang="en-US" sz="1500" dirty="0" smtClean="0"/>
              <a:t>므로 </a:t>
            </a:r>
            <a:r>
              <a:rPr lang="en-US" altLang="ko-KR" sz="1500" dirty="0" smtClean="0"/>
              <a:t>2000</a:t>
            </a:r>
            <a:r>
              <a:rPr lang="ko-KR" altLang="en-US" sz="1500" dirty="0" smtClean="0"/>
              <a:t>개 기준 카운트</a:t>
            </a:r>
            <a:endParaRPr lang="en-US" altLang="ko-KR" sz="1500" dirty="0" smtClean="0"/>
          </a:p>
          <a:p>
            <a:pPr algn="l"/>
            <a:endParaRPr lang="ko-KR" altLang="en-US" sz="1500" dirty="0"/>
          </a:p>
        </p:txBody>
      </p:sp>
      <p:sp>
        <p:nvSpPr>
          <p:cNvPr id="2" name="직사각형 1"/>
          <p:cNvSpPr/>
          <p:nvPr/>
        </p:nvSpPr>
        <p:spPr>
          <a:xfrm>
            <a:off x="0" y="903476"/>
            <a:ext cx="9667876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dirty="0"/>
              <a:t>`</a:t>
            </a:r>
            <a:r>
              <a:rPr lang="ko-KR" altLang="en-US" sz="1500" dirty="0" err="1"/>
              <a:t>timescale</a:t>
            </a:r>
            <a:r>
              <a:rPr lang="ko-KR" altLang="en-US" sz="1500" dirty="0"/>
              <a:t> 1ns / 1ps</a:t>
            </a:r>
          </a:p>
          <a:p>
            <a:endParaRPr lang="ko-KR" altLang="en-US" sz="1500" dirty="0"/>
          </a:p>
          <a:p>
            <a:r>
              <a:rPr lang="ko-KR" altLang="en-US" sz="1500" dirty="0" err="1"/>
              <a:t>module</a:t>
            </a:r>
            <a:r>
              <a:rPr lang="ko-KR" altLang="en-US" sz="1500" dirty="0"/>
              <a:t> </a:t>
            </a:r>
            <a:r>
              <a:rPr lang="ko-KR" altLang="en-US" sz="1500" dirty="0" err="1"/>
              <a:t>debounce</a:t>
            </a:r>
            <a:r>
              <a:rPr lang="ko-KR" altLang="en-US" sz="1500" dirty="0"/>
              <a:t>(</a:t>
            </a:r>
          </a:p>
          <a:p>
            <a:r>
              <a:rPr lang="ko-KR" altLang="en-US" sz="1500" dirty="0"/>
              <a:t>    </a:t>
            </a:r>
            <a:r>
              <a:rPr lang="ko-KR" altLang="en-US" sz="1500" dirty="0" err="1"/>
              <a:t>input</a:t>
            </a:r>
            <a:r>
              <a:rPr lang="ko-KR" altLang="en-US" sz="1500" dirty="0"/>
              <a:t> BTN,</a:t>
            </a:r>
          </a:p>
          <a:p>
            <a:r>
              <a:rPr lang="ko-KR" altLang="en-US" sz="1500" dirty="0"/>
              <a:t>    </a:t>
            </a:r>
            <a:r>
              <a:rPr lang="ko-KR" altLang="en-US" sz="1500" dirty="0" err="1"/>
              <a:t>input</a:t>
            </a:r>
            <a:r>
              <a:rPr lang="ko-KR" altLang="en-US" sz="1500" dirty="0"/>
              <a:t> PLS_1000,</a:t>
            </a:r>
          </a:p>
          <a:p>
            <a:r>
              <a:rPr lang="ko-KR" altLang="en-US" sz="1500" dirty="0"/>
              <a:t>    </a:t>
            </a:r>
            <a:r>
              <a:rPr lang="ko-KR" altLang="en-US" sz="1500" dirty="0" err="1"/>
              <a:t>output</a:t>
            </a:r>
            <a:r>
              <a:rPr lang="ko-KR" altLang="en-US" sz="1500" dirty="0"/>
              <a:t> </a:t>
            </a:r>
            <a:r>
              <a:rPr lang="ko-KR" altLang="en-US" sz="1500" dirty="0" err="1"/>
              <a:t>reg</a:t>
            </a:r>
            <a:r>
              <a:rPr lang="ko-KR" altLang="en-US" sz="1500" dirty="0"/>
              <a:t> DE_BTN_SHORT,</a:t>
            </a:r>
          </a:p>
          <a:p>
            <a:r>
              <a:rPr lang="ko-KR" altLang="en-US" sz="1500" dirty="0"/>
              <a:t>    </a:t>
            </a:r>
            <a:r>
              <a:rPr lang="ko-KR" altLang="en-US" sz="1500" dirty="0" err="1"/>
              <a:t>output</a:t>
            </a:r>
            <a:r>
              <a:rPr lang="ko-KR" altLang="en-US" sz="1500" dirty="0"/>
              <a:t> </a:t>
            </a:r>
            <a:r>
              <a:rPr lang="ko-KR" altLang="en-US" sz="1500" dirty="0" err="1"/>
              <a:t>reg</a:t>
            </a:r>
            <a:r>
              <a:rPr lang="ko-KR" altLang="en-US" sz="1500" dirty="0"/>
              <a:t> DE_BTN_LONG</a:t>
            </a:r>
          </a:p>
          <a:p>
            <a:r>
              <a:rPr lang="ko-KR" altLang="en-US" sz="1500" dirty="0"/>
              <a:t>    </a:t>
            </a:r>
            <a:r>
              <a:rPr lang="ko-KR" altLang="en-US" sz="1500" dirty="0" smtClean="0"/>
              <a:t>);</a:t>
            </a:r>
            <a:endParaRPr lang="ko-KR" altLang="en-US" sz="1500" dirty="0"/>
          </a:p>
          <a:p>
            <a:r>
              <a:rPr lang="ko-KR" altLang="en-US" sz="1500" dirty="0"/>
              <a:t>    </a:t>
            </a:r>
            <a:r>
              <a:rPr lang="ko-KR" altLang="en-US" sz="1500" dirty="0" err="1"/>
              <a:t>reg</a:t>
            </a:r>
            <a:r>
              <a:rPr lang="ko-KR" altLang="en-US" sz="1500" dirty="0"/>
              <a:t> </a:t>
            </a:r>
            <a:r>
              <a:rPr lang="ko-KR" altLang="en-US" sz="1500" dirty="0" err="1"/>
              <a:t>btn_tmp</a:t>
            </a:r>
            <a:r>
              <a:rPr lang="ko-KR" altLang="en-US" sz="1500" dirty="0"/>
              <a:t>;</a:t>
            </a:r>
          </a:p>
          <a:p>
            <a:r>
              <a:rPr lang="ko-KR" altLang="en-US" sz="1500" dirty="0"/>
              <a:t>    </a:t>
            </a:r>
            <a:r>
              <a:rPr lang="ko-KR" altLang="en-US" sz="1500" dirty="0" err="1"/>
              <a:t>reg</a:t>
            </a:r>
            <a:r>
              <a:rPr lang="ko-KR" altLang="en-US" sz="1500" dirty="0"/>
              <a:t> [11:0] </a:t>
            </a:r>
            <a:r>
              <a:rPr lang="ko-KR" altLang="en-US" sz="1500" dirty="0" err="1"/>
              <a:t>cnt_btn</a:t>
            </a:r>
            <a:r>
              <a:rPr lang="ko-KR" altLang="en-US" sz="1500" dirty="0"/>
              <a:t>;</a:t>
            </a:r>
          </a:p>
          <a:p>
            <a:r>
              <a:rPr lang="ko-KR" altLang="en-US" sz="1500" dirty="0"/>
              <a:t>    </a:t>
            </a:r>
            <a:r>
              <a:rPr lang="ko-KR" altLang="en-US" sz="1500" dirty="0" err="1"/>
              <a:t>wire</a:t>
            </a:r>
            <a:r>
              <a:rPr lang="ko-KR" altLang="en-US" sz="1500" dirty="0"/>
              <a:t> </a:t>
            </a:r>
            <a:r>
              <a:rPr lang="ko-KR" altLang="en-US" sz="1500" dirty="0" err="1"/>
              <a:t>btn_falling</a:t>
            </a:r>
            <a:r>
              <a:rPr lang="ko-KR" altLang="en-US" sz="1500" dirty="0" smtClean="0"/>
              <a:t>;</a:t>
            </a:r>
            <a:endParaRPr lang="ko-KR" altLang="en-US" sz="1500" dirty="0"/>
          </a:p>
          <a:p>
            <a:r>
              <a:rPr lang="ko-KR" altLang="en-US" sz="1500" dirty="0"/>
              <a:t>    </a:t>
            </a:r>
            <a:r>
              <a:rPr lang="ko-KR" altLang="en-US" sz="1500" dirty="0" err="1"/>
              <a:t>assign</a:t>
            </a:r>
            <a:r>
              <a:rPr lang="ko-KR" altLang="en-US" sz="1500" dirty="0"/>
              <a:t> </a:t>
            </a:r>
            <a:r>
              <a:rPr lang="ko-KR" altLang="en-US" sz="1500" dirty="0" err="1"/>
              <a:t>btn_falling</a:t>
            </a:r>
            <a:r>
              <a:rPr lang="ko-KR" altLang="en-US" sz="1500" dirty="0"/>
              <a:t> = ~BTN &amp;&amp; </a:t>
            </a:r>
            <a:r>
              <a:rPr lang="ko-KR" altLang="en-US" sz="1500" dirty="0" err="1"/>
              <a:t>btn_tmp</a:t>
            </a:r>
            <a:r>
              <a:rPr lang="ko-KR" altLang="en-US" sz="1500" dirty="0" smtClean="0"/>
              <a:t>;</a:t>
            </a:r>
            <a:endParaRPr lang="ko-KR" altLang="en-US" sz="1500" dirty="0"/>
          </a:p>
          <a:p>
            <a:r>
              <a:rPr lang="ko-KR" altLang="en-US" sz="1500" dirty="0"/>
              <a:t>    </a:t>
            </a:r>
            <a:r>
              <a:rPr lang="ko-KR" altLang="en-US" sz="1500" dirty="0" err="1"/>
              <a:t>always</a:t>
            </a:r>
            <a:r>
              <a:rPr lang="ko-KR" altLang="en-US" sz="1500" dirty="0"/>
              <a:t> @ (</a:t>
            </a:r>
            <a:r>
              <a:rPr lang="ko-KR" altLang="en-US" sz="1500" dirty="0" err="1"/>
              <a:t>posedge</a:t>
            </a:r>
            <a:r>
              <a:rPr lang="ko-KR" altLang="en-US" sz="1500" dirty="0"/>
              <a:t> PLS_1000) </a:t>
            </a:r>
            <a:r>
              <a:rPr lang="ko-KR" altLang="en-US" sz="1500" dirty="0" err="1"/>
              <a:t>begin</a:t>
            </a:r>
            <a:endParaRPr lang="ko-KR" altLang="en-US" sz="1500" dirty="0"/>
          </a:p>
          <a:p>
            <a:r>
              <a:rPr lang="ko-KR" altLang="en-US" sz="1500" dirty="0"/>
              <a:t>        </a:t>
            </a:r>
            <a:r>
              <a:rPr lang="ko-KR" altLang="en-US" sz="1500" dirty="0" err="1"/>
              <a:t>btn_tmp</a:t>
            </a:r>
            <a:r>
              <a:rPr lang="ko-KR" altLang="en-US" sz="1500" dirty="0"/>
              <a:t> &lt;= BTN;</a:t>
            </a:r>
          </a:p>
          <a:p>
            <a:r>
              <a:rPr lang="ko-KR" altLang="en-US" sz="1500" dirty="0"/>
              <a:t>        </a:t>
            </a:r>
            <a:r>
              <a:rPr lang="ko-KR" altLang="en-US" sz="1500" dirty="0" err="1"/>
              <a:t>if</a:t>
            </a:r>
            <a:r>
              <a:rPr lang="ko-KR" altLang="en-US" sz="1500" dirty="0"/>
              <a:t>(</a:t>
            </a:r>
            <a:r>
              <a:rPr lang="ko-KR" altLang="en-US" sz="1500" dirty="0" err="1"/>
              <a:t>btn_tmp</a:t>
            </a:r>
            <a:r>
              <a:rPr lang="ko-KR" altLang="en-US" sz="1500" dirty="0"/>
              <a:t> == BTN)   </a:t>
            </a:r>
            <a:r>
              <a:rPr lang="ko-KR" altLang="en-US" sz="1500" dirty="0" err="1"/>
              <a:t>cnt_btn</a:t>
            </a:r>
            <a:r>
              <a:rPr lang="ko-KR" altLang="en-US" sz="1500" dirty="0"/>
              <a:t> &lt;= </a:t>
            </a:r>
            <a:r>
              <a:rPr lang="ko-KR" altLang="en-US" sz="1500" dirty="0" err="1"/>
              <a:t>cnt_btn</a:t>
            </a:r>
            <a:r>
              <a:rPr lang="ko-KR" altLang="en-US" sz="1500" dirty="0"/>
              <a:t> + 1;</a:t>
            </a:r>
          </a:p>
          <a:p>
            <a:r>
              <a:rPr lang="ko-KR" altLang="en-US" sz="1500" dirty="0"/>
              <a:t>        </a:t>
            </a:r>
            <a:r>
              <a:rPr lang="ko-KR" altLang="en-US" sz="1500" dirty="0" err="1"/>
              <a:t>else</a:t>
            </a:r>
            <a:r>
              <a:rPr lang="ko-KR" altLang="en-US" sz="1500" dirty="0"/>
              <a:t>                                </a:t>
            </a:r>
            <a:r>
              <a:rPr lang="ko-KR" altLang="en-US" sz="1500" dirty="0" err="1"/>
              <a:t>cnt_btn</a:t>
            </a:r>
            <a:r>
              <a:rPr lang="ko-KR" altLang="en-US" sz="1500" dirty="0"/>
              <a:t> &lt;= 5'd0;</a:t>
            </a:r>
          </a:p>
          <a:p>
            <a:r>
              <a:rPr lang="ko-KR" altLang="en-US" sz="1500" dirty="0"/>
              <a:t>    </a:t>
            </a:r>
            <a:r>
              <a:rPr lang="ko-KR" altLang="en-US" sz="1500" dirty="0" err="1" smtClean="0"/>
              <a:t>end</a:t>
            </a:r>
            <a:endParaRPr lang="ko-KR" altLang="en-US" sz="1500" dirty="0"/>
          </a:p>
          <a:p>
            <a:r>
              <a:rPr lang="ko-KR" altLang="en-US" sz="1500" dirty="0"/>
              <a:t>    </a:t>
            </a:r>
            <a:r>
              <a:rPr lang="ko-KR" altLang="en-US" sz="1500" dirty="0" err="1"/>
              <a:t>always</a:t>
            </a:r>
            <a:r>
              <a:rPr lang="ko-KR" altLang="en-US" sz="1500" dirty="0"/>
              <a:t> @ (</a:t>
            </a:r>
            <a:r>
              <a:rPr lang="ko-KR" altLang="en-US" sz="1500" dirty="0" err="1"/>
              <a:t>posedge</a:t>
            </a:r>
            <a:r>
              <a:rPr lang="ko-KR" altLang="en-US" sz="1500" dirty="0"/>
              <a:t> PLS_1000) </a:t>
            </a:r>
            <a:r>
              <a:rPr lang="ko-KR" altLang="en-US" sz="1500" dirty="0" err="1"/>
              <a:t>begin</a:t>
            </a:r>
            <a:endParaRPr lang="ko-KR" altLang="en-US" sz="1500" dirty="0"/>
          </a:p>
          <a:p>
            <a:r>
              <a:rPr lang="ko-KR" altLang="en-US" sz="1500" dirty="0"/>
              <a:t>        </a:t>
            </a:r>
            <a:r>
              <a:rPr lang="ko-KR" altLang="en-US" sz="1500" dirty="0" err="1"/>
              <a:t>if</a:t>
            </a:r>
            <a:r>
              <a:rPr lang="ko-KR" altLang="en-US" sz="1500" dirty="0"/>
              <a:t>(</a:t>
            </a:r>
            <a:r>
              <a:rPr lang="ko-KR" altLang="en-US" sz="1500" dirty="0" err="1"/>
              <a:t>btn_falling</a:t>
            </a:r>
            <a:r>
              <a:rPr lang="ko-KR" altLang="en-US" sz="1500" dirty="0"/>
              <a:t> &amp;&amp; (</a:t>
            </a:r>
            <a:r>
              <a:rPr lang="ko-KR" altLang="en-US" sz="1500" dirty="0" err="1"/>
              <a:t>cnt_btn</a:t>
            </a:r>
            <a:r>
              <a:rPr lang="ko-KR" altLang="en-US" sz="1500" dirty="0"/>
              <a:t> &gt; 20 &amp;&amp; </a:t>
            </a:r>
            <a:r>
              <a:rPr lang="ko-KR" altLang="en-US" sz="1500" dirty="0" err="1"/>
              <a:t>cnt_btn</a:t>
            </a:r>
            <a:r>
              <a:rPr lang="ko-KR" altLang="en-US" sz="1500" dirty="0"/>
              <a:t> &lt;2000))     </a:t>
            </a:r>
            <a:r>
              <a:rPr lang="ko-KR" altLang="en-US" sz="1500" dirty="0" smtClean="0"/>
              <a:t> DE_BTN_SHORT </a:t>
            </a:r>
            <a:r>
              <a:rPr lang="ko-KR" altLang="en-US" sz="1500" dirty="0"/>
              <a:t>&lt;= 1'b1;</a:t>
            </a:r>
          </a:p>
          <a:p>
            <a:r>
              <a:rPr lang="ko-KR" altLang="en-US" sz="1500" dirty="0"/>
              <a:t>        </a:t>
            </a:r>
            <a:r>
              <a:rPr lang="ko-KR" altLang="en-US" sz="1500" dirty="0" err="1"/>
              <a:t>else</a:t>
            </a:r>
            <a:r>
              <a:rPr lang="ko-KR" altLang="en-US" sz="1500" dirty="0"/>
              <a:t> </a:t>
            </a:r>
            <a:r>
              <a:rPr lang="ko-KR" altLang="en-US" sz="1500" dirty="0" err="1"/>
              <a:t>if</a:t>
            </a:r>
            <a:r>
              <a:rPr lang="ko-KR" altLang="en-US" sz="1500" dirty="0"/>
              <a:t>(</a:t>
            </a:r>
            <a:r>
              <a:rPr lang="ko-KR" altLang="en-US" sz="1500" dirty="0" err="1"/>
              <a:t>cnt_btn</a:t>
            </a:r>
            <a:r>
              <a:rPr lang="ko-KR" altLang="en-US" sz="1500" dirty="0"/>
              <a:t> &gt; 1999)                                            </a:t>
            </a:r>
            <a:r>
              <a:rPr lang="ko-KR" altLang="en-US" sz="1500" dirty="0" smtClean="0"/>
              <a:t>DE_BTN_LONG </a:t>
            </a:r>
            <a:r>
              <a:rPr lang="ko-KR" altLang="en-US" sz="1500" dirty="0"/>
              <a:t>&lt;= 1'b1;</a:t>
            </a:r>
          </a:p>
          <a:p>
            <a:r>
              <a:rPr lang="ko-KR" altLang="en-US" sz="1500" dirty="0"/>
              <a:t>        </a:t>
            </a:r>
            <a:r>
              <a:rPr lang="ko-KR" altLang="en-US" sz="1500" dirty="0" err="1"/>
              <a:t>else</a:t>
            </a:r>
            <a:r>
              <a:rPr lang="ko-KR" altLang="en-US" sz="1500" dirty="0"/>
              <a:t> </a:t>
            </a:r>
            <a:r>
              <a:rPr lang="ko-KR" altLang="en-US" sz="1500" dirty="0" err="1"/>
              <a:t>begin</a:t>
            </a:r>
            <a:endParaRPr lang="ko-KR" altLang="en-US" sz="1500" dirty="0"/>
          </a:p>
          <a:p>
            <a:r>
              <a:rPr lang="ko-KR" altLang="en-US" sz="1500" dirty="0"/>
              <a:t>            DE_BTN_SHORT &lt;= 1'b0;</a:t>
            </a:r>
          </a:p>
          <a:p>
            <a:r>
              <a:rPr lang="ko-KR" altLang="en-US" sz="1500" dirty="0"/>
              <a:t>            DE_BTN_LONG &lt;= 1'b0;</a:t>
            </a:r>
          </a:p>
          <a:p>
            <a:r>
              <a:rPr lang="ko-KR" altLang="en-US" sz="1500" dirty="0"/>
              <a:t>        </a:t>
            </a:r>
            <a:r>
              <a:rPr lang="ko-KR" altLang="en-US" sz="1500" dirty="0" err="1"/>
              <a:t>end</a:t>
            </a:r>
            <a:endParaRPr lang="ko-KR" altLang="en-US" sz="1500" dirty="0"/>
          </a:p>
          <a:p>
            <a:r>
              <a:rPr lang="ko-KR" altLang="en-US" sz="1500" dirty="0"/>
              <a:t>    </a:t>
            </a:r>
            <a:r>
              <a:rPr lang="ko-KR" altLang="en-US" sz="1500" dirty="0" err="1"/>
              <a:t>end</a:t>
            </a:r>
            <a:endParaRPr lang="ko-KR" altLang="en-US" sz="1500" dirty="0"/>
          </a:p>
          <a:p>
            <a:r>
              <a:rPr lang="ko-KR" altLang="en-US" sz="1500" dirty="0" err="1"/>
              <a:t>endmodule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5477302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525" y="-9526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smtClean="0"/>
              <a:t>20ms </a:t>
            </a:r>
            <a:r>
              <a:rPr lang="ko-KR" altLang="en-US" sz="1500" dirty="0" smtClean="0"/>
              <a:t>이내로 눌렀을 때 </a:t>
            </a:r>
            <a:r>
              <a:rPr lang="en-US" altLang="ko-KR" sz="1500" dirty="0" smtClean="0"/>
              <a:t>output  </a:t>
            </a:r>
            <a:r>
              <a:rPr lang="ko-KR" altLang="en-US" sz="1500" dirty="0" smtClean="0"/>
              <a:t>활성화 </a:t>
            </a:r>
            <a:r>
              <a:rPr lang="en-US" altLang="ko-KR" sz="1500" dirty="0" smtClean="0"/>
              <a:t>x</a:t>
            </a:r>
          </a:p>
          <a:p>
            <a:pPr algn="l"/>
            <a:r>
              <a:rPr lang="en-US" altLang="ko-KR" sz="1500" dirty="0" smtClean="0"/>
              <a:t>20ms</a:t>
            </a:r>
            <a:r>
              <a:rPr lang="ko-KR" altLang="en-US" sz="1500" dirty="0" smtClean="0"/>
              <a:t>이상 </a:t>
            </a:r>
            <a:r>
              <a:rPr lang="en-US" altLang="ko-KR" sz="1500" dirty="0" smtClean="0"/>
              <a:t>2</a:t>
            </a:r>
            <a:r>
              <a:rPr lang="ko-KR" altLang="en-US" sz="1500" dirty="0" smtClean="0"/>
              <a:t>초 이내로 눌렀을 때 </a:t>
            </a:r>
            <a:r>
              <a:rPr lang="en-US" altLang="ko-KR" sz="1500" dirty="0" smtClean="0"/>
              <a:t>short </a:t>
            </a:r>
            <a:r>
              <a:rPr lang="ko-KR" altLang="en-US" sz="1500" dirty="0" smtClean="0"/>
              <a:t>활성화</a:t>
            </a:r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r>
              <a:rPr lang="en-US" altLang="ko-KR" sz="1500" dirty="0" smtClean="0"/>
              <a:t>2</a:t>
            </a:r>
            <a:r>
              <a:rPr lang="ko-KR" altLang="en-US" sz="1500" dirty="0" smtClean="0"/>
              <a:t>초 이상 눌렀을 때 </a:t>
            </a:r>
            <a:r>
              <a:rPr lang="en-US" altLang="ko-KR" sz="1500" dirty="0" smtClean="0"/>
              <a:t>long </a:t>
            </a:r>
            <a:r>
              <a:rPr lang="ko-KR" altLang="en-US" sz="1500" dirty="0" smtClean="0"/>
              <a:t>활성화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747"/>
            <a:ext cx="12192000" cy="221150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47460"/>
            <a:ext cx="12192000" cy="264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035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7949"/>
            <a:ext cx="4115374" cy="212437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238" y="105548"/>
            <a:ext cx="802005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9848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566" y="457714"/>
            <a:ext cx="802005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097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41122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693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smtClean="0"/>
              <a:t>UART : TX, RX, GND </a:t>
            </a:r>
            <a:r>
              <a:rPr lang="ko-KR" altLang="en-US" sz="1500" dirty="0" smtClean="0"/>
              <a:t>최소 </a:t>
            </a:r>
            <a:r>
              <a:rPr lang="en-US" altLang="ko-KR" sz="1500" dirty="0" smtClean="0"/>
              <a:t>3</a:t>
            </a:r>
            <a:r>
              <a:rPr lang="ko-KR" altLang="en-US" sz="1500" dirty="0" smtClean="0"/>
              <a:t>개의 신호선 필요</a:t>
            </a:r>
            <a:endParaRPr lang="en-US" altLang="ko-KR" sz="1500" dirty="0" smtClean="0"/>
          </a:p>
          <a:p>
            <a:pPr algn="l"/>
            <a:r>
              <a:rPr lang="ko-KR" altLang="en-US" sz="1500" dirty="0" err="1" smtClean="0"/>
              <a:t>통신거리</a:t>
            </a:r>
            <a:r>
              <a:rPr lang="ko-KR" altLang="en-US" sz="1500" dirty="0" smtClean="0"/>
              <a:t> </a:t>
            </a:r>
            <a:r>
              <a:rPr lang="en-US" altLang="ko-KR" sz="1500" dirty="0" smtClean="0"/>
              <a:t>: 20m</a:t>
            </a:r>
            <a:r>
              <a:rPr lang="ko-KR" altLang="en-US" sz="1500" dirty="0" smtClean="0"/>
              <a:t>까지 </a:t>
            </a:r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r>
              <a:rPr lang="en-US" altLang="ko-KR" sz="1500" dirty="0" smtClean="0"/>
              <a:t>RS-422 (Differential </a:t>
            </a:r>
            <a:r>
              <a:rPr lang="ko-KR" altLang="en-US" sz="1500" dirty="0" smtClean="0"/>
              <a:t>신호 사용</a:t>
            </a:r>
            <a:r>
              <a:rPr lang="en-US" altLang="ko-KR" sz="1500" dirty="0" smtClean="0"/>
              <a:t>)</a:t>
            </a:r>
          </a:p>
          <a:p>
            <a:pPr algn="l"/>
            <a:r>
              <a:rPr lang="en-US" altLang="ko-KR" sz="1500" dirty="0" smtClean="0"/>
              <a:t>TX+, TX-, RX+, RX-, GND </a:t>
            </a:r>
            <a:r>
              <a:rPr lang="ko-KR" altLang="en-US" sz="1500" dirty="0" smtClean="0"/>
              <a:t>최소 </a:t>
            </a:r>
            <a:r>
              <a:rPr lang="en-US" altLang="ko-KR" sz="1500" dirty="0" smtClean="0"/>
              <a:t>5</a:t>
            </a:r>
            <a:r>
              <a:rPr lang="ko-KR" altLang="en-US" sz="1500" dirty="0" smtClean="0"/>
              <a:t>개의 신호선 필요</a:t>
            </a:r>
            <a:endParaRPr lang="en-US" altLang="ko-KR" sz="1500" dirty="0" smtClean="0"/>
          </a:p>
          <a:p>
            <a:pPr algn="l"/>
            <a:r>
              <a:rPr lang="ko-KR" altLang="en-US" sz="1500" dirty="0" err="1" smtClean="0"/>
              <a:t>통신거리</a:t>
            </a:r>
            <a:r>
              <a:rPr lang="ko-KR" altLang="en-US" sz="1500" dirty="0" smtClean="0"/>
              <a:t> </a:t>
            </a:r>
            <a:r>
              <a:rPr lang="en-US" altLang="ko-KR" sz="1500" dirty="0" smtClean="0"/>
              <a:t>1200m</a:t>
            </a:r>
            <a:r>
              <a:rPr lang="ko-KR" altLang="en-US" sz="1500" dirty="0" smtClean="0"/>
              <a:t>까지</a:t>
            </a:r>
            <a:r>
              <a:rPr lang="en-US" altLang="ko-KR" sz="1500" dirty="0" smtClean="0"/>
              <a:t>(Noise</a:t>
            </a:r>
            <a:r>
              <a:rPr lang="ko-KR" altLang="en-US" sz="1500" dirty="0" smtClean="0"/>
              <a:t>에 강함</a:t>
            </a:r>
            <a:r>
              <a:rPr lang="en-US" altLang="ko-KR" sz="1500" dirty="0" smtClean="0"/>
              <a:t>)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7317997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18378"/>
          <a:stretch/>
        </p:blipFill>
        <p:spPr>
          <a:xfrm>
            <a:off x="0" y="1260389"/>
            <a:ext cx="12191999" cy="559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1106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err="1" smtClean="0"/>
              <a:t>Modelsim</a:t>
            </a:r>
            <a:r>
              <a:rPr lang="en-US" altLang="ko-KR" sz="1500" dirty="0" smtClean="0"/>
              <a:t> </a:t>
            </a:r>
            <a:r>
              <a:rPr lang="ko-KR" altLang="en-US" sz="1500" dirty="0" smtClean="0"/>
              <a:t>사용법</a:t>
            </a:r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r>
              <a:rPr lang="en-US" altLang="ko-KR" sz="1500" dirty="0" err="1" smtClean="0"/>
              <a:t>vlib</a:t>
            </a:r>
            <a:r>
              <a:rPr lang="en-US" altLang="ko-KR" sz="1500" dirty="0" smtClean="0"/>
              <a:t> work : </a:t>
            </a:r>
            <a:r>
              <a:rPr lang="ko-KR" altLang="en-US" sz="1500" dirty="0" smtClean="0"/>
              <a:t>시뮬레이션 한 결과를 </a:t>
            </a:r>
            <a:r>
              <a:rPr lang="en-US" altLang="ko-KR" sz="1500" dirty="0" smtClean="0"/>
              <a:t>work</a:t>
            </a:r>
            <a:r>
              <a:rPr lang="ko-KR" altLang="en-US" sz="1500" dirty="0" smtClean="0"/>
              <a:t>폴더에 저장</a:t>
            </a:r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r>
              <a:rPr lang="en-US" altLang="ko-KR" sz="1500" dirty="0" smtClean="0"/>
              <a:t>work </a:t>
            </a:r>
            <a:r>
              <a:rPr lang="ko-KR" altLang="en-US" sz="1500" dirty="0" smtClean="0"/>
              <a:t>폴더 생성</a:t>
            </a:r>
            <a:endParaRPr lang="en-US" altLang="ko-KR" sz="1500" dirty="0" smtClean="0"/>
          </a:p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546"/>
            <a:ext cx="12192000" cy="295765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50194"/>
            <a:ext cx="4772691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111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smtClean="0"/>
              <a:t>vlog : </a:t>
            </a:r>
            <a:r>
              <a:rPr lang="ko-KR" altLang="en-US" sz="1500" dirty="0" smtClean="0"/>
              <a:t>컴파일</a:t>
            </a:r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r>
              <a:rPr lang="en-US" altLang="ko-KR" sz="1500" dirty="0" err="1" smtClean="0"/>
              <a:t>vsim</a:t>
            </a:r>
            <a:r>
              <a:rPr lang="en-US" altLang="ko-KR" sz="1500" dirty="0" smtClean="0"/>
              <a:t> </a:t>
            </a:r>
            <a:r>
              <a:rPr lang="en-US" altLang="ko-KR" sz="1500" dirty="0" err="1" smtClean="0"/>
              <a:t>uart_tx</a:t>
            </a:r>
            <a:r>
              <a:rPr lang="en-US" altLang="ko-KR" sz="1500" dirty="0" smtClean="0"/>
              <a:t> : </a:t>
            </a:r>
            <a:r>
              <a:rPr lang="ko-KR" altLang="en-US" sz="1500" dirty="0" smtClean="0"/>
              <a:t>시뮬레이션 실행</a:t>
            </a:r>
            <a:r>
              <a:rPr lang="en-US" altLang="ko-KR" sz="1500" dirty="0" smtClean="0"/>
              <a:t>				add wave * : </a:t>
            </a:r>
            <a:r>
              <a:rPr lang="ko-KR" altLang="en-US" sz="1500" dirty="0" smtClean="0"/>
              <a:t>모든 소스를 </a:t>
            </a:r>
            <a:r>
              <a:rPr lang="en-US" altLang="ko-KR" sz="1500" dirty="0" smtClean="0"/>
              <a:t>waveform </a:t>
            </a:r>
            <a:r>
              <a:rPr lang="ko-KR" altLang="en-US" sz="1500" dirty="0" smtClean="0"/>
              <a:t>에 추가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8592"/>
            <a:ext cx="6506483" cy="186716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4489"/>
            <a:ext cx="6992326" cy="208626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427" y="4970943"/>
            <a:ext cx="4658375" cy="110505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850" y="4910786"/>
            <a:ext cx="3238952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6645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9097"/>
            <a:ext cx="2524477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1363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en-US" altLang="ko-KR" sz="1500" dirty="0" smtClean="0"/>
              <a:t>force </a:t>
            </a:r>
            <a:r>
              <a:rPr lang="en-US" altLang="ko-KR" sz="1500" dirty="0" err="1" smtClean="0"/>
              <a:t>clk</a:t>
            </a:r>
            <a:r>
              <a:rPr lang="en-US" altLang="ko-KR" sz="1500" dirty="0" smtClean="0"/>
              <a:t> 0 0, 1 4n –r 8ns</a:t>
            </a:r>
          </a:p>
          <a:p>
            <a:pPr algn="l"/>
            <a:r>
              <a:rPr lang="en-US" altLang="ko-KR" sz="1500" dirty="0" smtClean="0"/>
              <a:t>           </a:t>
            </a:r>
            <a:r>
              <a:rPr lang="ko-KR" altLang="en-US" sz="1500" dirty="0" smtClean="0"/>
              <a:t>값</a:t>
            </a:r>
            <a:r>
              <a:rPr lang="en-US" altLang="ko-KR" sz="1500" dirty="0"/>
              <a:t>0</a:t>
            </a:r>
            <a:r>
              <a:rPr lang="ko-KR" altLang="en-US" sz="1500" dirty="0" smtClean="0"/>
              <a:t> </a:t>
            </a:r>
            <a:r>
              <a:rPr lang="en-US" altLang="ko-KR" sz="1500" dirty="0" smtClean="0"/>
              <a:t>0ns </a:t>
            </a:r>
            <a:r>
              <a:rPr lang="ko-KR" altLang="en-US" sz="1500" dirty="0" smtClean="0"/>
              <a:t>값</a:t>
            </a:r>
            <a:r>
              <a:rPr lang="en-US" altLang="ko-KR" sz="1500" dirty="0" smtClean="0"/>
              <a:t>1</a:t>
            </a:r>
            <a:r>
              <a:rPr lang="ko-KR" altLang="en-US" sz="1500" dirty="0" smtClean="0"/>
              <a:t> </a:t>
            </a:r>
            <a:r>
              <a:rPr lang="en-US" altLang="ko-KR" sz="1500" dirty="0" smtClean="0"/>
              <a:t>4ns (repeat) 8ns</a:t>
            </a:r>
            <a:r>
              <a:rPr lang="ko-KR" altLang="en-US" sz="1500" dirty="0" smtClean="0"/>
              <a:t>마다 반복</a:t>
            </a:r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r>
              <a:rPr lang="ko-KR" altLang="en-US" sz="1500" dirty="0" smtClean="0"/>
              <a:t>저장 후</a:t>
            </a:r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en-US" altLang="ko-KR" sz="1500" dirty="0" smtClean="0"/>
          </a:p>
          <a:p>
            <a:pPr algn="l"/>
            <a:endParaRPr lang="en-US" altLang="ko-KR" sz="1500" dirty="0"/>
          </a:p>
          <a:p>
            <a:pPr algn="l"/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7" y="1360013"/>
            <a:ext cx="6462584" cy="422795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945" y="1360013"/>
            <a:ext cx="4934639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6690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r>
              <a:rPr lang="ko-KR" altLang="en-US" sz="1500" smtClean="0"/>
              <a:t>저장한 시뮬레이션 실행 시 바로 열림</a:t>
            </a:r>
            <a:endParaRPr lang="ko-KR" altLang="en-US" sz="15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1962"/>
            <a:ext cx="6411220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5156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1463755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-1"/>
            <a:ext cx="12192000" cy="6795247"/>
          </a:xfrm>
        </p:spPr>
        <p:txBody>
          <a:bodyPr>
            <a:normAutofit/>
          </a:bodyPr>
          <a:lstStyle/>
          <a:p>
            <a:pPr algn="l"/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038899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3060</TotalTime>
  <Words>1472</Words>
  <Application>Microsoft Office PowerPoint</Application>
  <PresentationFormat>와이드스크린</PresentationFormat>
  <Paragraphs>427</Paragraphs>
  <Slides>53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57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78</cp:revision>
  <dcterms:created xsi:type="dcterms:W3CDTF">2024-11-25T00:17:48Z</dcterms:created>
  <dcterms:modified xsi:type="dcterms:W3CDTF">2025-02-27T01:06:05Z</dcterms:modified>
</cp:coreProperties>
</file>